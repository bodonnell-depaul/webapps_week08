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notes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notes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9068, JWT Profile for OAuth Access Tokens](https://www.rfc-editor.org/rfc/rfc9068.html)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7662, Token Introspection](https://www.rfc-editor.org/rfc/rfc7662.html)
IETF — [RFC 9068, JWT Profile for Access Tokens](https://www.rfc-editor.org/rfc/rfc9068.html)
Curity — [The Phantom Token pattern](https://curity.io/resources/learn/phantom-token-pattern/)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OWASP — [Session Management](https://cheatsheetseries.owasp.org/cheatsheets/Session_Management_Cheat_Sheet.html)
IETF — [Token Introspection, RFC 7662](https://www.rfc-editor.org/rfc/rfc7662.html)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npm --prefix samples/oidc-web-app run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[JSON Web Token, RFC 7519](https://www.rfc-editor.org/rfc/rfc7519.html)
IETF — [JWT Best Current Practices, RFC 8725](https://www.rfc-editor.org/rfc/rfc8725.html)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7519 §4.1, Registered Claim Names](https://www.rfc-editor.org/rfc/rfc7519.html)
Descope — [nOAuth: an unverified `email` claim enabled account takeover](https://www.descope.com/blog/post/noauth)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[Week 8 lab, Part 3](../lab.md)
Course — [the hand-written validator](../samples/validate-token.mjs)
Course — [All server/client commands and expected exit codes](../samples/README.md)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weeks\week08\samples
node authz-server.mjs
SOURCES: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weeks/week08/samples
node authz-server.mjs
SOURCES: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weeks\week08\samples
node validate-token.mjs --variant valid --decode-only
node validate-token.mjs --variant valid --scope campuspulse.read
SOURCES:
Course — [the hand-written validator](../samples/validate-token.mjs)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weeks/week08/samples
node validate-token.mjs --variant valid --decode-only
node validate-token.mjs --variant valid --scope campuspulse.read
SOURCES:
Course — [the hand-written validator](../samples/validate-token.mjs)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tamper.mjs                       # writes out\forged.txt
node validate-token.mjs --token-file out\forged.txt `
  --scope campuspulse.incident.write
SOURCES:
Course — [tamper.mjs](../samples/tamper.mjs)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node tamper.mjs                     # writes out/forged.txt
node validate-token.mjs --token-file out/forged.txt \
  --scope campuspulse.incident.write
SOURCES:
Course — [tamper.mjs](../samples/tamper.mjs)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foreach ($v in 'expired','wrong-issuer','wrong-audience',
               'no-scope','id-token','stale-kid') {
  "===== $v ====="
  node validate-token.mjs --variant $v --scope campuspulse.read
}
Get-Content .\transcripts\part3-negatives.txt   # fallback capture
if (Test-Path .\out\forged.txt) {
  Remove-Item -LiteralPath .\out\forged.txt
} # Ctrl+C in Terminal A
SOURCES:
Course — [captured negative battery](../samples/transcripts/part3-negatives.txt)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for v in expired wrong-issuer wrong-audience \
         no-scope id-token stale-kid; do
  printf '===== %s =====\n' "$v"
  node validate-token.mjs --variant "$v" --scope campuspulse.read
done
head -n 60 ./transcripts/part3-negatives.txt   # fallback capture
rm -f ./out/forged.txt                         # cleanup; Ctrl+C in A
SOURCES:
Course — [captured negative battery](../samples/transcripts/part3-negatives.txt)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6750 §3, the `WWW-Authenticate` challenge](https://www.rfc-editor.org/rfc/rfc6750.html)
Course — [captured negative battery](../samples/transcripts/part3-negatives.txt)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Auth0 — [Critical vulnerabilities in JSON Web Token libraries](https://auth0.com/blog/critical-vulnerabilities-in-json-web-token-libraries/)
OWASP — [JSON Web Token Cheat Sheet](https://cheatsheetseries.owasp.org/cheatsheets/JSON_Web_Token_Cheat_Sheet.html)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NIST NVD — [CVE-2015-9235](https://nvd.nist.gov/vuln/detail/CVE-2015-9235) (RS→HS confusion)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6750 §3, the `WWW-Authenticate` challenge](https://www.rfc-editor.org/rfc/rfc6750.html)
IETF — [RFC 9449, DPoP — sender-constrained tokens](https://www.rfc-editor.org/rfc/rfc9449.html)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06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662.html" TargetMode="External"/><Relationship Id="rId2" Type="http://schemas.openxmlformats.org/officeDocument/2006/relationships/hyperlink" Target="https://www.rfc-editor.org/rfc/rfc9068.html" TargetMode="External"/><Relationship Id="rId3" Type="http://schemas.openxmlformats.org/officeDocument/2006/relationships/hyperlink" Target="https://curity.io/resources/learn/phantom-token-pattern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heatsheetseries.owasp.org/cheatsheets/Session_Management_Cheat_Sheet.html" TargetMode="External"/><Relationship Id="rId2" Type="http://schemas.openxmlformats.org/officeDocument/2006/relationships/hyperlink" Target="https://www.rfc-editor.org/rfc/rfc7662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519.html" TargetMode="External"/><Relationship Id="rId2" Type="http://schemas.openxmlformats.org/officeDocument/2006/relationships/hyperlink" Target="https://www.rfc-editor.org/rfc/rfc8725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519.html" TargetMode="External"/><Relationship Id="rId2" Type="http://schemas.openxmlformats.org/officeDocument/2006/relationships/hyperlink" Target="https://www.descope.com/blog/post/noauth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../samples/validate-token.mjs" TargetMode="External"/><Relationship Id="rId3" Type="http://schemas.openxmlformats.org/officeDocument/2006/relationships/hyperlink" Target="../samples/README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uthz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uthz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validate-token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../samples/validate-token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amp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amp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3-negatives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3-negatives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6750.html" TargetMode="External"/><Relationship Id="rId2" Type="http://schemas.openxmlformats.org/officeDocument/2006/relationships/hyperlink" Target="../samples/transcripts/part3-negative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auth0.com/blog/critical-vulnerabilities-in-json-web-token-libraries/" TargetMode="External"/><Relationship Id="rId2" Type="http://schemas.openxmlformats.org/officeDocument/2006/relationships/hyperlink" Target="https://cheatsheetseries.owasp.org/cheatsheets/JSON_Web_Token_Cheat_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nvd.nist.gov/vuln/detail/CVE-2015-923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6750.html" TargetMode="External"/><Relationship Id="rId2" Type="http://schemas.openxmlformats.org/officeDocument/2006/relationships/hyperlink" Target="https://www.rfc-editor.org/rfc/rfc9449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7332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4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Tokens and claims — decoding is not validation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3885895"/>
            <a:ext cx="9525000" cy="9909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inside a token, who each claim is for, and the eight checks that stand between you and a forged one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8 · Block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2026-10-29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vocabulary before we inspect one</a:t>
            </a:r>
            <a:endParaRPr lang="en-US" sz="3276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Web Token (JWT, "jot")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portable set of claims in JavaScript Object Notation (JSON)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Claim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field asserting something; decoding does not make it true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 / sub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Issuer / subject: who issued it / who it describes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Audience: the intended recipient, not the person holding it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 / nbf / iat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Expiration / not-before / issued-at, in Unix seconds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/ ID token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Programming Interface / identity token for the client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a JWT? A signed campus day pass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7767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7767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9197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20210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Useful across independent services. Not automatically better for a one-server student app: a revocable server-side session is often simpler.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266682"/>
            <a:ext cx="5219700" cy="337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2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issuer writes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685800" y="3686689"/>
            <a:ext cx="5219700" cy="2154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Subject: this student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this building, not every building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enter the study room, not the server room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Expiry: valid until a stated time</a:t>
            </a:r>
            <a:endParaRPr lang="en-US" sz="1728" dirty="0"/>
          </a:p>
        </p:txBody>
      </p:sp>
      <p:sp>
        <p:nvSpPr>
          <p:cNvPr id="13" name="Text 11"/>
          <p:cNvSpPr/>
          <p:nvPr/>
        </p:nvSpPr>
        <p:spPr>
          <a:xfrm>
            <a:off x="6286500" y="3266682"/>
            <a:ext cx="5219700" cy="337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2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service can check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6286500" y="3686689"/>
            <a:ext cx="5219700" cy="2154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issuer signs the fields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 checks that signature locally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still checks the building, time and permission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need not phone the issuer on every request</a:t>
            </a:r>
            <a:endParaRPr lang="en-US" sz="172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valid signature, wrong audience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85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3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client sends</a:t>
            </a:r>
            <a:endParaRPr lang="en-US" sz="1935" dirty="0"/>
          </a:p>
        </p:txBody>
      </p:sp>
      <p:sp>
        <p:nvSpPr>
          <p:cNvPr id="8" name="Text 6"/>
          <p:cNvSpPr/>
          <p:nvPr/>
        </p:nvSpPr>
        <p:spPr>
          <a:xfrm>
            <a:off x="685800" y="2900044"/>
            <a:ext cx="5219700" cy="2489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ID token signed by the expected provider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 (</a:t>
            </a:r>
            <a:r>
              <a:rPr lang="en-US" sz="206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and expiration (</a:t>
            </a:r>
            <a:r>
              <a:rPr lang="en-US" sz="206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pass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</a:t>
            </a:r>
            <a:r>
              <a:rPr lang="en-US" sz="206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campuspulse-web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browser client</a:t>
            </a:r>
            <a:endParaRPr lang="en-US" sz="2064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85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3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API decides</a:t>
            </a:r>
            <a:endParaRPr lang="en-US" sz="1935" dirty="0"/>
          </a:p>
        </p:txBody>
      </p:sp>
      <p:sp>
        <p:nvSpPr>
          <p:cNvPr id="10" name="Text 8"/>
          <p:cNvSpPr/>
          <p:nvPr/>
        </p:nvSpPr>
        <p:spPr>
          <a:xfrm>
            <a:off x="6286500" y="2900044"/>
            <a:ext cx="5219700" cy="2856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resource server expects </a:t>
            </a: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audience, not the web client's ID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returns 401 before any incident data is read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Decoding explains the token; validation decides whether to trust it here</a:t>
            </a:r>
            <a:endParaRPr lang="en-US" sz="20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tokens, three jobs</a:t>
            </a:r>
            <a:endParaRPr lang="en-US" sz="3696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68286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390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token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token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Refresh token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Answers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 this app do X?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signed in?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access token?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 names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API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client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by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at sign-in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authorization server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opaque or JWT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always JWT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usually opaque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51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Typical life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5–60 min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minutes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days–months, rotating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51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 it in a URL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it as an API credential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 it to the resource API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9068, JWT Profile for OAuth Access Tokens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JWT or opaque: where is the decision data?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71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4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JWT — self-contained</a:t>
            </a:r>
            <a:endParaRPr lang="en-US" sz="1845" dirty="0"/>
          </a:p>
        </p:txBody>
      </p:sp>
      <p:sp>
        <p:nvSpPr>
          <p:cNvPr id="8" name="Text 6"/>
          <p:cNvSpPr/>
          <p:nvPr/>
        </p:nvSpPr>
        <p:spPr>
          <a:xfrm>
            <a:off x="685800" y="2881791"/>
            <a:ext cx="5219700" cy="2378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with a cached JSON Web Key Set (JWKS)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computation; no issuer call on a cache hit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stay fixed; signatures do not hide them</a:t>
            </a:r>
            <a:endParaRPr lang="en-US" sz="1968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71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4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Opaque — a database handle</a:t>
            </a:r>
            <a:endParaRPr lang="en-US" sz="1845" dirty="0"/>
          </a:p>
        </p:txBody>
      </p:sp>
      <p:sp>
        <p:nvSpPr>
          <p:cNvPr id="10" name="Text 8"/>
          <p:cNvSpPr/>
          <p:nvPr/>
        </p:nvSpPr>
        <p:spPr>
          <a:xfrm>
            <a:off x="6286500" y="2881791"/>
            <a:ext cx="5219700" cy="2790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handle; permissions live in a server record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Introspection asks the issuer: active, and allowed what?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Disabling the record works at the next fresh check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delays that revocation</a:t>
            </a:r>
            <a:endParaRPr lang="en-US" sz="1968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7662, Token Introspection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9068, JWT Profile for Access Tokens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Curity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Phantom Token pattern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Alternatives: sessions and opaque tokens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Server-side session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72664"/>
            <a:ext cx="52197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Cookie sends a random session identifier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looks up the user, permissions and expiry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the record to end the session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web app; replicas need shared state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Opaque OAuth access token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86500" y="2872664"/>
            <a:ext cx="52197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presents a random token string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looks up or introspects permissions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Revocation works at the next fresh check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Delegation; the state service must be available</a:t>
            </a:r>
            <a:endParaRPr lang="en-US" sz="192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Session Management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 Introspection, RFC 7662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Other tools solve different identity problems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Campus single sign-on</a:t>
            </a:r>
            <a:endParaRPr lang="en-US" sz="2070" dirty="0"/>
          </a:p>
        </p:txBody>
      </p:sp>
      <p:sp>
        <p:nvSpPr>
          <p:cNvPr id="8" name="Text 6"/>
          <p:cNvSpPr/>
          <p:nvPr/>
        </p:nvSpPr>
        <p:spPr>
          <a:xfrm>
            <a:off x="685800" y="2927425"/>
            <a:ext cx="5219700" cy="1616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SAML: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Security Assertion Markup Language. The provider sends signed </a:t>
            </a: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XML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(Extensible Markup Language).</a:t>
            </a:r>
            <a:endParaRPr lang="en-US" sz="2208" dirty="0"/>
          </a:p>
        </p:txBody>
      </p:sp>
      <p:sp>
        <p:nvSpPr>
          <p:cNvPr id="9" name="Text 7"/>
          <p:cNvSpPr/>
          <p:nvPr/>
        </p:nvSpPr>
        <p:spPr>
          <a:xfrm>
            <a:off x="685800" y="4667010"/>
            <a:ext cx="5219700" cy="1235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validates the assertion, then creates a session. Not a drop-in MCP access token.</a:t>
            </a:r>
            <a:endParaRPr lang="en-US" sz="2208" dirty="0"/>
          </a:p>
        </p:txBody>
      </p:sp>
      <p:sp>
        <p:nvSpPr>
          <p:cNvPr id="10" name="Text 8"/>
          <p:cNvSpPr/>
          <p:nvPr/>
        </p:nvSpPr>
        <p:spPr>
          <a:xfrm>
            <a:off x="6286500" y="241615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access</a:t>
            </a:r>
            <a:endParaRPr lang="en-US" sz="2070" dirty="0"/>
          </a:p>
        </p:txBody>
      </p:sp>
      <p:sp>
        <p:nvSpPr>
          <p:cNvPr id="11" name="Text 9"/>
          <p:cNvSpPr/>
          <p:nvPr/>
        </p:nvSpPr>
        <p:spPr>
          <a:xfrm>
            <a:off x="6286500" y="2927425"/>
            <a:ext cx="5219700" cy="1616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key: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 issued secret identifying a calling service. The API checks the key's record and permissions.</a:t>
            </a:r>
            <a:endParaRPr lang="en-US" sz="2208" dirty="0"/>
          </a:p>
        </p:txBody>
      </p:sp>
      <p:sp>
        <p:nvSpPr>
          <p:cNvPr id="12" name="Text 10"/>
          <p:cNvSpPr/>
          <p:nvPr/>
        </p:nvSpPr>
        <p:spPr>
          <a:xfrm>
            <a:off x="6286500" y="4667010"/>
            <a:ext cx="5219700" cy="1235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Useful for service identity, not user sign-in or delegated consent. Protect and rotate the secret.</a:t>
            </a:r>
            <a:endParaRPr lang="en-US" sz="220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cookie and a JWT are not competing formats</a:t>
            </a:r>
            <a:endParaRPr lang="en-US" sz="3780" dirty="0"/>
          </a:p>
        </p:txBody>
      </p:sp>
      <p:sp>
        <p:nvSpPr>
          <p:cNvPr id="7" name="Text 5"/>
          <p:cNvSpPr/>
          <p:nvPr/>
        </p:nvSpPr>
        <p:spPr>
          <a:xfrm>
            <a:off x="685800" y="2257974"/>
            <a:ext cx="10820400" cy="1833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to app: a </a:t>
            </a: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session-ID cookie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backend looks up the visit record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to API: a </a:t>
            </a: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access token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API checks signature and permission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cookie carries a value; a JWT defines its format. They can work together</a:t>
            </a:r>
            <a:endParaRPr lang="en-US" sz="2160" dirty="0"/>
          </a:p>
        </p:txBody>
      </p:sp>
      <p:sp>
        <p:nvSpPr>
          <p:cNvPr id="8" name="Shape 6"/>
          <p:cNvSpPr/>
          <p:nvPr/>
        </p:nvSpPr>
        <p:spPr>
          <a:xfrm>
            <a:off x="685800" y="4211361"/>
            <a:ext cx="10820400" cy="1007593"/>
          </a:xfrm>
          <a:prstGeom prst="roundRect">
            <a:avLst>
              <a:gd name="adj" fmla="val 5445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1136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423041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Course-content root - reuse Block A's installed demo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SHELL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4660941"/>
            <a:ext cx="10439400" cy="43228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9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samples/oidc-web-app run demo</a:t>
            </a:r>
            <a:endParaRPr lang="en-US" sz="18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a signature protects readable claims</a:t>
            </a:r>
            <a:endParaRPr lang="en-US" sz="3528" dirty="0"/>
          </a:p>
        </p:txBody>
      </p:sp>
      <p:sp>
        <p:nvSpPr>
          <p:cNvPr id="7" name="Text 5"/>
          <p:cNvSpPr/>
          <p:nvPr/>
        </p:nvSpPr>
        <p:spPr>
          <a:xfrm>
            <a:off x="685800" y="1638175"/>
            <a:ext cx="10820400" cy="2562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 header and payload as base64url, a URL-safe text encoding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encoded header + "." + encoded payload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issuer's private key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those exact bytes with the matching public key; it cannot mint tokens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even one claim: the old signature no longer verifies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check issuer, audience, time and permission; a valid signature is not enough</a:t>
            </a:r>
            <a:endParaRPr lang="en-US" sz="2016" dirty="0"/>
          </a:p>
        </p:txBody>
      </p:sp>
      <p:sp>
        <p:nvSpPr>
          <p:cNvPr id="8" name="Shape 6"/>
          <p:cNvSpPr/>
          <p:nvPr/>
        </p:nvSpPr>
        <p:spPr>
          <a:xfrm>
            <a:off x="685800" y="4312338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12338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26638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1" name="Text 9"/>
          <p:cNvSpPr/>
          <p:nvPr/>
        </p:nvSpPr>
        <p:spPr>
          <a:xfrm>
            <a:off x="914400" y="4736772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RS256 format uses RSA (Rivest-Shamir-Adleman) signatures with SHA-256 (Secure Hash Algorithm, 256-bit). Never place secrets in readable claims.</a:t>
            </a:r>
            <a:endParaRPr lang="en-US" sz="189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 Web Token, RFC 7519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JWT Best Current Practices, RFC 8725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segments, and one pointer that matters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87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starts with your configured issuer; kid selects a key only from that issuer's trusted key set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real access token, decoded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3008"/>
            <a:ext cx="10820400" cy="2945526"/>
          </a:xfrm>
          <a:prstGeom prst="roundRect">
            <a:avLst>
              <a:gd name="adj" fmla="val 186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30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validate-token.mjs --variant valid --decode-only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88"/>
            <a:ext cx="10439400" cy="23702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 {"alg":"RS256","typ":"at+jwt","kid":"..."}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 {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"iss": "http://127.0.0.1:9100",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"sub": "a4f1c0de-7c1b-4a2e-9f10-3d5c0b8e2a11",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"aud": "http://127.0.0.1:8930/mcp",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"exp": 1786824533, "iat": 1786823633,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"scope": "openid campuspulse.read",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"roles": ["viewer"]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4" dirty="0"/>
          </a:p>
        </p:txBody>
      </p:sp>
      <p:sp>
        <p:nvSpPr>
          <p:cNvPr id="11" name="Shape 9"/>
          <p:cNvSpPr/>
          <p:nvPr/>
        </p:nvSpPr>
        <p:spPr>
          <a:xfrm>
            <a:off x="685800" y="4657406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57406"/>
            <a:ext cx="76200" cy="1256707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71706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914400" y="5062409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</a:t>
            </a: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validate-token.mjs --variant valid --decode-only</a:t>
            </a: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lab issuer. This abbreviated snapshot is expired; new tokens work locally and need redaction.</a:t>
            </a:r>
            <a:endParaRPr lang="en-US" sz="1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claims that decide a request</a:t>
            </a:r>
            <a:endParaRPr lang="en-US" sz="3276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Claim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by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If you skip it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minted it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issuer's token works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 id; key by (iss, sub)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app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 from different issuers collide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it is for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API's token works here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 nbf iat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expires / active after / issued at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stale or future tokens work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app may do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authorization at all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user may do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app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 and user rights conflated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7519 §4.1, Registered Claim Names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Descope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nOAuth: an unverified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claim enabled account takeover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 the rest of the quarter depends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Decoding is not validation</a:t>
            </a:r>
            <a:endParaRPr lang="en-US" sz="4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Decoding shows claims, not truth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decoding proves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234184"/>
            <a:ext cx="52197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was base64url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parsed as JSON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685800" y="3236976"/>
            <a:ext cx="5219700" cy="423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the complete list.</a:t>
            </a:r>
            <a:endParaRPr lang="en-US" sz="1920" dirty="0"/>
          </a:p>
        </p:txBody>
      </p:sp>
      <p:sp>
        <p:nvSpPr>
          <p:cNvPr id="10" name="Shape 8"/>
          <p:cNvSpPr/>
          <p:nvPr/>
        </p:nvSpPr>
        <p:spPr>
          <a:xfrm>
            <a:off x="685800" y="3766718"/>
            <a:ext cx="5219700" cy="1278770"/>
          </a:xfrm>
          <a:prstGeom prst="roundRect">
            <a:avLst>
              <a:gd name="adj" fmla="val 3575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766718"/>
            <a:ext cx="76200" cy="1278770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1018"/>
            <a:ext cx="47625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14400" y="4178198"/>
            <a:ext cx="47625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Decoding is a display operation, not a security operation.</a:t>
            </a:r>
            <a:endParaRPr lang="en-US" sz="1805" dirty="0"/>
          </a:p>
        </p:txBody>
      </p:sp>
      <p:sp>
        <p:nvSpPr>
          <p:cNvPr id="14" name="Text 12"/>
          <p:cNvSpPr/>
          <p:nvPr/>
        </p:nvSpPr>
        <p:spPr>
          <a:xfrm>
            <a:off x="6286500" y="177767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validation proves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86500" y="2234184"/>
            <a:ext cx="5219700" cy="3651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1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on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allow-list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2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resolves in the issuer's JWKS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3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verifies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4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matches exactly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5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names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6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 not passed, allowing bounded clock drift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7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nbf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</a:t>
            </a: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iat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are not in the future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8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covers this operation</a:t>
            </a:r>
            <a:endParaRPr lang="en-US" sz="1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Follow along: decode, then forge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921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LTS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course root =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master, or the student download root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local lab issuer — it mints and serves the JWKS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decode, forge, check. Ctrl+C in Terminal A after</a:t>
            </a:r>
            <a:endParaRPr lang="en-US" sz="2112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1180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token: eight PASS, then ACCEPT 200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Forged token: signature check fails</a:t>
            </a:r>
            <a:endParaRPr lang="en-US" sz="1824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439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negative-battery fallback.</a:t>
            </a:r>
            <a:endParaRPr lang="en-US" sz="2016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3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hand-written validator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server/client commands and expected exit codes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A: start the lab issuer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315974"/>
          </a:xfrm>
          <a:prstGeom prst="roundRect">
            <a:avLst>
              <a:gd name="adj" fmla="val 416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Terminal A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74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authz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26994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26994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41294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703244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the issuer, JWKS URL, and active key ID on port 9100. Reuse your issuer if already running.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start the lab issuer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315974"/>
          </a:xfrm>
          <a:prstGeom prst="roundRect">
            <a:avLst>
              <a:gd name="adj" fmla="val 416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Terminal A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74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authz-server.mjs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26994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26994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41294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703244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the issuer, JWKS URL, and active key ID on port 9100. Reuse your issuer if already running.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decode, then validate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a fresh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valid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--decode-only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valid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--scope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campuspulse.read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newly minted tokens of the same variant. Only validation makes a security claim; decoding just displays fields.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hand-written validator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decode, then validate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a fresh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validate-token.mjs --variant valid --decode-only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validate-token.mjs --variant valid --scope campuspulse.read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newly minted tokens of the same variant. Only validation makes a security claim; decoding just displays fields.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hand-written validator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17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one claim, keep the signature</a:t>
            </a:r>
            <a:endParaRPr lang="en-US" sz="4116" dirty="0"/>
          </a:p>
        </p:txBody>
      </p:sp>
      <p:sp>
        <p:nvSpPr>
          <p:cNvPr id="7" name="Shape 5"/>
          <p:cNvSpPr/>
          <p:nvPr/>
        </p:nvSpPr>
        <p:spPr>
          <a:xfrm>
            <a:off x="685800" y="1743564"/>
            <a:ext cx="10820400" cy="1939229"/>
          </a:xfrm>
          <a:prstGeom prst="roundRect">
            <a:avLst>
              <a:gd name="adj" fmla="val 282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4356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6261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93144"/>
            <a:ext cx="10439400" cy="13639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tamper.mjs                       </a:t>
            </a:r>
            <a:r>
              <a:rPr lang="en-US" sz="176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writes out\forged.txt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--token-file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out\forged.txt `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--scope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campuspulse.incident.write</a:t>
            </a:r>
            <a:endParaRPr lang="en-US" sz="1764" dirty="0"/>
          </a:p>
        </p:txBody>
      </p:sp>
      <p:sp>
        <p:nvSpPr>
          <p:cNvPr id="11" name="Shape 9"/>
          <p:cNvSpPr/>
          <p:nvPr/>
        </p:nvSpPr>
        <p:spPr>
          <a:xfrm>
            <a:off x="685800" y="3832145"/>
            <a:ext cx="10820400" cy="1477339"/>
          </a:xfrm>
          <a:prstGeom prst="roundRect">
            <a:avLst>
              <a:gd name="adj" fmla="val 309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32145"/>
            <a:ext cx="76200" cy="147733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46445"/>
            <a:ext cx="10363200" cy="317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1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17" dirty="0"/>
          </a:p>
        </p:txBody>
      </p:sp>
      <p:sp>
        <p:nvSpPr>
          <p:cNvPr id="14" name="Text 12"/>
          <p:cNvSpPr/>
          <p:nvPr/>
        </p:nvSpPr>
        <p:spPr>
          <a:xfrm>
            <a:off x="914400" y="4301918"/>
            <a:ext cx="10363200" cy="855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1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rewrites </a:t>
            </a:r>
            <a:r>
              <a:rPr lang="en-US" sz="221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r>
              <a:rPr lang="en-US" sz="221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r>
              <a:rPr lang="en-US" sz="221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["operator"]</a:t>
            </a:r>
            <a:r>
              <a:rPr lang="en-US" sz="221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adds the write scope, and touches nothing else.</a:t>
            </a:r>
            <a:endParaRPr lang="en-US" sz="2211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tamper.mjs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change one claim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tamper.mjs                  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writes out/forged.txt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validate-token.mjs --token-file out/forged.txt \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--scope campuspulse.incident.write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rewrites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["operator"]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adds the write scope, and touches nothing else.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tamper.mjs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Eight checks before acceptance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3008"/>
            <a:ext cx="10820400" cy="2945526"/>
          </a:xfrm>
          <a:prstGeom prst="roundRect">
            <a:avLst>
              <a:gd name="adj" fmla="val 186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30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validate-token.mjs --variant valid --scope campuspulse.read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88"/>
            <a:ext cx="10439400" cy="23702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alg is on the allow-list           allowed=RS256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kid resolves in JWKS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signature verifies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iss matches configured issuer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aud contains this resource server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exp is in the future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nbf/iat are not in the future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scope includes campuspulse.read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 200</a:t>
            </a:r>
            <a:endParaRPr lang="en-US" sz="1404" dirty="0"/>
          </a:p>
        </p:txBody>
      </p:sp>
      <p:sp>
        <p:nvSpPr>
          <p:cNvPr id="11" name="Shape 9"/>
          <p:cNvSpPr/>
          <p:nvPr/>
        </p:nvSpPr>
        <p:spPr>
          <a:xfrm>
            <a:off x="685800" y="4657406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57406"/>
            <a:ext cx="76200" cy="125670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71706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914400" y="5062409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parsing: seven credential checks, then the permission check. The teaching validator displays every check, even after a failure.</a:t>
            </a:r>
            <a:endParaRPr lang="en-US" sz="17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perfectly valid token, correctly rejected</a:t>
            </a:r>
            <a:endParaRPr lang="en-US" sz="3528" dirty="0"/>
          </a:p>
        </p:txBody>
      </p:sp>
      <p:sp>
        <p:nvSpPr>
          <p:cNvPr id="7" name="Shape 5"/>
          <p:cNvSpPr/>
          <p:nvPr/>
        </p:nvSpPr>
        <p:spPr>
          <a:xfrm>
            <a:off x="685800" y="2174498"/>
            <a:ext cx="10820400" cy="2302794"/>
          </a:xfrm>
          <a:prstGeom prst="roundRect">
            <a:avLst>
              <a:gd name="adj" fmla="val 238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7449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19354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validate-token.mjs --variant wrong-audience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24078"/>
            <a:ext cx="10439400" cy="17274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signature verifies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iss matches configured issuer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  aud contains this resource server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token:    https://grades.campuspulse.example/api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expected: http://127.0.0.1:8930/mcp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 401: audience mismatch</a:t>
            </a:r>
            <a:endParaRPr lang="en-US" sz="1512" dirty="0"/>
          </a:p>
        </p:txBody>
      </p:sp>
      <p:sp>
        <p:nvSpPr>
          <p:cNvPr id="11" name="Shape 9"/>
          <p:cNvSpPr/>
          <p:nvPr/>
        </p:nvSpPr>
        <p:spPr>
          <a:xfrm>
            <a:off x="685800" y="4605309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05309"/>
            <a:ext cx="76200" cy="1322897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19609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386" dirty="0"/>
          </a:p>
        </p:txBody>
      </p:sp>
      <p:sp>
        <p:nvSpPr>
          <p:cNvPr id="14" name="Text 12"/>
          <p:cNvSpPr/>
          <p:nvPr/>
        </p:nvSpPr>
        <p:spPr>
          <a:xfrm>
            <a:off x="914400" y="5029743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was forged. This lab token is signed correctly, but for a different service. A genuine library pass is not a server-room pass.</a:t>
            </a:r>
            <a:endParaRPr lang="en-US" sz="189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Expired token or unknown key?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711806"/>
          </a:xfrm>
          <a:prstGeom prst="roundRect">
            <a:avLst>
              <a:gd name="adj" fmla="val 202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more runs of the same validator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2136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 expired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PASS  signature verifies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FAIL  exp is in the future    delta=-2400s, skew=60s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REJECT 401: token expired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 stale-kid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FAIL  kid resolves in JWKS    kid=retired-2025-key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REJECT 401: unknown signing key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4532307"/>
            <a:ext cx="10820400" cy="1389086"/>
          </a:xfrm>
          <a:prstGeom prst="roundRect">
            <a:avLst>
              <a:gd name="adj" fmla="val 3291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32307"/>
            <a:ext cx="76200" cy="138908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46607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976172"/>
            <a:ext cx="10363200" cy="792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are 401. Logs distinguish expired credentials from an unknown signing key; an unknown key can signal a stale cache or an untrusted token.</a:t>
            </a:r>
            <a:endParaRPr lang="en-US" sz="20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ID token presented to an API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711806"/>
          </a:xfrm>
          <a:prstGeom prst="roundRect">
            <a:avLst>
              <a:gd name="adj" fmla="val 202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validate-token.mjs --variant id-token --scope campuspulse.read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2136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  {"alg":"RS256","typ":"JWT","kid":"..."}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 { "aud":"campuspulse-web", "nonce":"n-0S6_WzA2Mj", ... }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signature verifies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  aud contains this resource server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The audience is the CLIENT, not the API.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  scope includes campuspulse.read    granted=[]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 401: audience mismatch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4532307"/>
            <a:ext cx="10820400" cy="1389086"/>
          </a:xfrm>
          <a:prstGeom prst="roundRect">
            <a:avLst>
              <a:gd name="adj" fmla="val 3291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32307"/>
            <a:ext cx="76200" cy="1389086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46607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976172"/>
            <a:ext cx="10363200" cy="792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genuine identity token is </a:t>
            </a: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an API credential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Audience and token purpose decide that, not whether the payload looks like a user profile.</a:t>
            </a:r>
            <a:endParaRPr lang="en-US" sz="20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negative battery, in one loop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3588258"/>
          </a:xfrm>
          <a:prstGeom prst="roundRect">
            <a:avLst>
              <a:gd name="adj" fmla="val 152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301294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'expired'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'wrong-issuer'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'wrong-audience'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'no-scope'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'id-token'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'stale-kid'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"===== 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====="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node validate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--scope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campuspulse.read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.\transcripts\part3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-negatives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fallback capture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Test-Path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.\out\forged.txt) {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Remove-Item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-LiteralPath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.\out\forged.txt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Ctrl+C in Terminal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negative battery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negative battery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2939034"/>
          </a:xfrm>
          <a:prstGeom prst="roundRect">
            <a:avLst>
              <a:gd name="adj" fmla="val 186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23637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v </a:t>
            </a: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expired wrong-issuer wrong-audience \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no-scope id-token stale-kid; </a:t>
            </a: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'===== %s =====\n'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node validate-token.mjs --variant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--scope campuspulse.read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-n 60 ./transcripts/part3-negatives.txt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fallback capture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-f ./out/forged.txt                      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cleanup; Ctrl+C in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negative battery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91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check fired first</a:t>
            </a:r>
            <a:endParaRPr lang="en-US" sz="3948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13453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572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Variant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failing check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expired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 is in the future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90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wrong-issuer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 matches configured issuer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wrong-audience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 contains this resource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90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no-scope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 includes the required one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id-token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 contains this resource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stale-kid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kid resolves in JWKS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6750 §3, the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WWW-Authenticate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challenge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negative battery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the attacker picks </a:t>
            </a:r>
            <a:r>
              <a:rPr lang="en-US" sz="4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alg: none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330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header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685800" y="2188550"/>
            <a:ext cx="5219700" cy="1727149"/>
          </a:xfrm>
          <a:prstGeom prst="roundRect">
            <a:avLst>
              <a:gd name="adj" fmla="val 3177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88550"/>
            <a:ext cx="52197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2207600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2638130"/>
            <a:ext cx="4838700" cy="11518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7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7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7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"alg"</a:t>
            </a: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7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7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"none"</a:t>
            </a: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7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7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7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"typ"</a:t>
            </a: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7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7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"JWT"</a:t>
            </a:r>
            <a:endParaRPr lang="en-US" sz="147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70" dirty="0"/>
          </a:p>
        </p:txBody>
      </p:sp>
      <p:sp>
        <p:nvSpPr>
          <p:cNvPr id="12" name="Text 10"/>
          <p:cNvSpPr/>
          <p:nvPr/>
        </p:nvSpPr>
        <p:spPr>
          <a:xfrm>
            <a:off x="6286500" y="1777670"/>
            <a:ext cx="5219700" cy="330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 mode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6286500" y="2188550"/>
            <a:ext cx="521970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treated as "verified with no key"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 fully attacker-controlled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signature to check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6286500" y="3429467"/>
            <a:ext cx="5219700" cy="1986732"/>
          </a:xfrm>
          <a:prstGeom prst="roundRect">
            <a:avLst>
              <a:gd name="adj" fmla="val 230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3429467"/>
            <a:ext cx="76200" cy="1986732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100" y="3543767"/>
            <a:ext cx="47625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5100" y="3808562"/>
            <a:ext cx="4762500" cy="14552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token must not choose how it is verified. Run the local regression examples with </a:t>
            </a:r>
            <a:r>
              <a:rPr lang="en-US" sz="157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--test identity.test.mjs</a:t>
            </a: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</a:t>
            </a:r>
            <a:r>
              <a:rPr lang="en-US" sz="157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weeks/week08/samples</a:t>
            </a: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they start and stop their own servers.</a:t>
            </a:r>
            <a:endParaRPr lang="en-US" sz="1579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Auth0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Critical vulnerabilities in JSON Web Token libraries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 Web Token Cheat Sheet</a:t>
            </a:r>
            <a:endParaRPr lang="en-US" sz="12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public key is not a shared secret</a:t>
            </a:r>
            <a:endParaRPr lang="en-US" sz="3864" dirty="0"/>
          </a:p>
        </p:txBody>
      </p:sp>
      <p:sp>
        <p:nvSpPr>
          <p:cNvPr id="7" name="Text 5"/>
          <p:cNvSpPr/>
          <p:nvPr/>
        </p:nvSpPr>
        <p:spPr>
          <a:xfrm>
            <a:off x="685800" y="1698397"/>
            <a:ext cx="10820400" cy="2797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HMAC: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Hash-based Message Authentication Code; one shared secret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HS256 uses HMAC with SHA-256; RS256 uses a private/public key pair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bug: verify an HS256 token using the published RSA public key as a secret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attacker knows that "secret" and can forge tokens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allow only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algorithms: ['RS256']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this issuer</a:t>
            </a:r>
            <a:endParaRPr lang="en-US" sz="2208" dirty="0"/>
          </a:p>
        </p:txBody>
      </p:sp>
      <p:sp>
        <p:nvSpPr>
          <p:cNvPr id="8" name="Shape 6"/>
          <p:cNvSpPr/>
          <p:nvPr/>
        </p:nvSpPr>
        <p:spPr>
          <a:xfrm>
            <a:off x="685800" y="4618534"/>
            <a:ext cx="10820400" cy="1052666"/>
          </a:xfrm>
          <a:prstGeom prst="roundRect">
            <a:avLst>
              <a:gd name="adj" fmla="val 4343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18534"/>
            <a:ext cx="76200" cy="105266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32834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518" dirty="0"/>
          </a:p>
        </p:txBody>
      </p:sp>
      <p:sp>
        <p:nvSpPr>
          <p:cNvPr id="11" name="Text 9"/>
          <p:cNvSpPr/>
          <p:nvPr/>
        </p:nvSpPr>
        <p:spPr>
          <a:xfrm>
            <a:off x="914400" y="5068876"/>
            <a:ext cx="10363200" cy="449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picks only the key; never the algorithm.</a:t>
            </a:r>
            <a:endParaRPr lang="en-US" sz="2076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NIST NVD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CVE-2015-9235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(RS→HS confusion)</a:t>
            </a:r>
            <a:endParaRPr lang="en-US" sz="12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your validator must not do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1668286"/>
            <a:ext cx="10820400" cy="2746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trust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header.alg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allow-list the algorithms in your config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fetch a key from a URL named inside the token (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jku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x5u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select a JWKS key by array index — select by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compare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normalisation —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string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per RFC 9207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treat a missing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"must be for me"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set clock skew above ~60 seconds to make a flaky test pass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4532492"/>
            <a:ext cx="10820400" cy="1367023"/>
          </a:xfrm>
          <a:prstGeom prst="roundRect">
            <a:avLst>
              <a:gd name="adj" fmla="val 3344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32492"/>
            <a:ext cx="76200" cy="1367023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46792"/>
            <a:ext cx="10363200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2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452" dirty="0"/>
          </a:p>
        </p:txBody>
      </p:sp>
      <p:sp>
        <p:nvSpPr>
          <p:cNvPr id="11" name="Text 9"/>
          <p:cNvSpPr/>
          <p:nvPr/>
        </p:nvSpPr>
        <p:spPr>
          <a:xfrm>
            <a:off x="914400" y="4969880"/>
            <a:ext cx="10363200" cy="777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these makes tokens work. Several of them make </a:t>
            </a: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forged</a:t>
            </a: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tokens work too, and none of them produce an error message.</a:t>
            </a:r>
            <a:endParaRPr lang="en-US" sz="198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4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actually write in production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1623119"/>
            <a:ext cx="10820400" cy="2565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maintained library; this course's Node reference uses </a:t>
            </a: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jose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it with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issuer,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audience,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algorithm list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keys with a time to live (TTL); rate-limit refreshes on unknown </a:t>
            </a: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authentication failures,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authorization failures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the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check name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token identifier (</a:t>
            </a: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jti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— never the token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 binding can require a key too; it is separate from choosing JWT or opaque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4298273"/>
            <a:ext cx="10820400" cy="1300833"/>
          </a:xfrm>
          <a:prstGeom prst="roundRect">
            <a:avLst>
              <a:gd name="adj" fmla="val 351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98273"/>
            <a:ext cx="76200" cy="130083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12573"/>
            <a:ext cx="10363200" cy="265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3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53" dirty="0"/>
          </a:p>
        </p:txBody>
      </p:sp>
      <p:sp>
        <p:nvSpPr>
          <p:cNvPr id="11" name="Text 9"/>
          <p:cNvSpPr/>
          <p:nvPr/>
        </p:nvSpPr>
        <p:spPr>
          <a:xfrm>
            <a:off x="914400" y="4716230"/>
            <a:ext cx="10363200" cy="730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hand-written validator for learning. Use the maintained-library browser/server integration for your application.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6750 §3, the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WWW-Authenticate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challenge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9449, DPoP — sender-constrained tokens</a:t>
            </a:r>
            <a:endParaRPr lang="en-US" sz="12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Beyond bearer: require the caller's key too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constrain who may present a token. Neither replaces JWT or opaque formats. Conceptual extension, not an additional classroom demo.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DPoP</a:t>
            </a:r>
            <a:endParaRPr lang="en-US" sz="1665" dirty="0"/>
          </a:p>
        </p:txBody>
      </p:sp>
      <p:sp>
        <p:nvSpPr>
          <p:cNvPr id="12" name="Text 10"/>
          <p:cNvSpPr/>
          <p:nvPr/>
        </p:nvSpPr>
        <p:spPr>
          <a:xfrm>
            <a:off x="685800" y="4334296"/>
            <a:ext cx="5219700" cy="1318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Demonstrating Proof of Possession.</a:t>
            </a: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client signs a proof for each request. A token bound to that key cannot be used with the token alone.</a:t>
            </a:r>
            <a:endParaRPr lang="en-US" sz="1776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mTLS</a:t>
            </a:r>
            <a:endParaRPr lang="en-US" sz="1665" dirty="0"/>
          </a:p>
        </p:txBody>
      </p:sp>
      <p:sp>
        <p:nvSpPr>
          <p:cNvPr id="14" name="Text 12"/>
          <p:cNvSpPr/>
          <p:nvPr/>
        </p:nvSpPr>
        <p:spPr>
          <a:xfrm>
            <a:off x="6286500" y="4334296"/>
            <a:ext cx="5219700" cy="1318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Transport Layer Security.</a:t>
            </a: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client authenticates with a certificate during the encrypted connection. The resource enforces the token's certificate binding.</a:t>
            </a:r>
            <a:endParaRPr lang="en-US" sz="1776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(4 min) → cold call (4 min) → debrief (2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tokens arrive at your MCP server. Which status, and which check decided?</a:t>
            </a:r>
            <a:endParaRPr lang="en-US" sz="3780" dirty="0"/>
          </a:p>
        </p:txBody>
      </p:sp>
      <p:sp>
        <p:nvSpPr>
          <p:cNvPr id="10" name="Text 8"/>
          <p:cNvSpPr/>
          <p:nvPr/>
        </p:nvSpPr>
        <p:spPr>
          <a:xfrm>
            <a:off x="685800" y="3381924"/>
            <a:ext cx="1082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Font typeface="+mj-lt"/>
              <a:buAutoNum type="arabicPeriod" startAt="1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valid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correct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your </a:t>
            </a: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API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12 min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Font typeface="+mj-lt"/>
              <a:buAutoNum type="arabicPeriod" startAt="2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valid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correct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openid profile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no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campuspulse.*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Font typeface="+mj-lt"/>
              <a:buAutoNum type="arabicPeriod" startAt="3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alg: none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payload says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"roles":["operator"]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no signature segment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Font typeface="+mj-lt"/>
              <a:buAutoNum type="arabicPeriod" startAt="4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valid · everything correct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was 90 seconds ago, skew is 60s</a:t>
            </a:r>
            <a:endParaRPr lang="en-US" sz="2160" dirty="0"/>
          </a:p>
        </p:txBody>
      </p:sp>
    </p:spTree>
  </p:cSld>
  <p:clrMapOvr>
    <a:masterClrMapping/>
  </p:clrMapOvr>
</p:sld>
</file>

<file path=ppt/theme/notes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Tokens and claims — decoding is not validation — Week 8 Block B</dc:title>
  <dc:subject>What is inside a token, who each claim is for, and the eight checks that stand between you and a forged one</dc:subject>
  <dc:creator>Course staff</dc:creator>
  <cp:lastModifiedBy>Course staff</cp:lastModifiedBy>
  <cp:revision>1</cp:revision>
  <dcterms:created xsi:type="dcterms:W3CDTF">2026-10-29T22:48:35Z</dcterms:created>
  <dcterms:modified xsi:type="dcterms:W3CDTF">2026-10-29T22:48:35Z</dcterms:modified>
</cp:coreProperties>
</file>