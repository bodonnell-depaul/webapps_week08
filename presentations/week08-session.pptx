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notesTheme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</p:sld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notesMaster" Target="notesMasters/notesMaster1.xml"/><Relationship Id="rId110" Type="http://schemas.openxmlformats.org/officeDocument/2006/relationships/presProps" Target="presProps.xml"/><Relationship Id="rId111" Type="http://schemas.openxmlformats.org/officeDocument/2006/relationships/viewProps" Target="viewProps.xml"/><Relationship Id="rId112" Type="http://schemas.openxmlformats.org/officeDocument/2006/relationships/theme" Target="theme/theme1.xml"/><Relationship Id="rId1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notesTheme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review; source Block A,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prelecture; source Block A,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logistics; source Block A, slide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logistics; source Block A,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logistics; source Block A,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9.
SOURCES:
Course — [Every demo: servers, clients, expected results, cleanup](../samples/README.md)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10.
PLAIN-TEXT COMMANDS:
Copy from here or the Markdown/HTML source; colored PowerPoint code uses nonbreaking spaces for layout.
npm --prefix samples\mcp-starter ci
npm --prefix samples\oidc-web-app ci
npm --prefix samples\oidc-web-app run demo
SOURCES:
Course — [Complete browser sign-in demo](../../../samples/oidc-web-app/README.md)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11.
PLAIN-TEXT COMMANDS:
Copy from here or the Markdown/HTML source; colored PowerPoint code uses nonbreaking spaces for layout.
npm --prefix samples/mcp-starter ci
npm --prefix samples/oidc-web-app ci
npm --prefix samples/oidc-web-app run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19.
SOURCES:
OpenID Foundation — [OpenID Connect Core 1.0](https://openid.net/specs/openid-connect-core-1_0.html)
IETF — [RFC 8414, Authorization Server Metadata](https://www.rfc-editor.org/rfc/rfc8414.html)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21.
SOURCES:
IETF — [RFC 7517, JSON Web Key](https://www.rfc-editor.org/rfc/rfc7517.html)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24.
SOURCES:
IETF — [RFC 7636, Proof Key for Code Exchange](https://www.rfc-editor.org/rfc/rfc7636.html)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25.
SOURCES:
Course — [Week 8 lab, Parts 0–2](../lab.md)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26.
PLAIN-TEXT COMMANDS:
Copy from here or the Markdown/HTML source; colored PowerPoint code uses nonbreaking spaces for layout.
cd weeks\week08\samples
node authz-server.mjs
SOURCES: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27.
PLAIN-TEXT COMMANDS:
Copy from here or the Markdown/HTML source; colored PowerPoint code uses nonbreaking spaces for layout.
cd weeks/week08/samples
node authz-server.mjs
SOURCES: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28.
PLAIN-TEXT COMMANDS:
Copy from here or the Markdown/HTML source; colored PowerPoint code uses nonbreaking spaces for layout.
cd weeks\week08\samples
node pkce.mjs
# Inspect the URL only: this helper has no callback server.
node pkce-negative.mjs
SOURCES:
Course — [Week 8 lab, Part 2](../lab.md)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29.
PLAIN-TEXT COMMANDS:
Copy from here or the Markdown/HTML source; colored PowerPoint code uses nonbreaking spaces for layout.
cd weeks/week08/samples
node pkce.mjs
# Inspect the URL only: this helper has no callback server.
node pkce-negative.mjs
SOURCES:
Course — [Week 8 lab, Part 2](../lab.md)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30.
SOURCES:
IETF — [RFC 9700, OAuth 2.0 Security Best Current Practice §2.1.1](https://www.rfc-editor.org/rfc/rfc9700.html)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32.
SOURCES:
IETF — [RFC 7636 §4.6](https://www.rfc-editor.org/rfc/rfc7636.html)
IETF — [RFC 9700 §2.1.1](https://www.rfc-editor.org/rfc/rfc9700.html)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33.
PLAIN-TEXT COMMANDS:
Copy from here or the Markdown/HTML source; colored PowerPoint code uses nonbreaking spaces for layout.
Get-Content .\weeks\week08\samples\transcripts\part2-pkce-negative.txt
Get-Content .\weeks\week08\samples\fixtures\discovery-google.json
# Cleanup: Ctrl+C in Terminal A; close the consent browser tab
SOURCES:
Course — [captured PKCE negatives](../samples/transcripts/part2-pkce-negative.txt)
Course — [Google discovery snapshot, 2026-08-15](../samples/fixtures/discovery-google.json)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34.
PLAIN-TEXT COMMANDS:
Copy from here or the Markdown/HTML source; colored PowerPoint code uses nonbreaking spaces for layout.
cat ./weeks/week08/samples/transcripts/part2-pkce-negative.txt
head -n 40 ./weeks/week08/samples/fixtures/discovery-google.json
# Cleanup: Ctrl+C in Terminal A; close the consent browser tab
SOURCES:
Course — [captured PKCE negatives](../samples/transcripts/part2-pkce-negative.txt)
Course — [Google discovery snapshot, 2026-08-15](../samples/fixtures/discovery-google.json)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35.
SOURCES:
IETF — [RFC 9700 §2.1, on `state`, PKCE, and `nonce`](https://www.rfc-editor.org/rfc/rfc9700.html)
IETF — [RFC 9207, Authorization Server Issuer Identification](https://www.rfc-editor.org/rfc/rfc9207.html)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A, slide 38.
SOURCES:
MCP — [Authorization, specification 2026-07-28](https://modelcontextprotocol.io/specification/2026-07-28/basic/authorization)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5.
SOURCES:
IETF — [RFC 9068, JWT Profile for OAuth Access Tokens](https://www.rfc-editor.org/rfc/rfc9068.html)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6.
SOURCES:
IETF — [RFC 7662, Token Introspection](https://www.rfc-editor.org/rfc/rfc7662.html)
IETF — [RFC 9068, JWT Profile for Access Tokens](https://www.rfc-editor.org/rfc/rfc9068.html)
Curity — [The Phantom Token pattern](https://curity.io/resources/learn/phantom-token-pattern/)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7.
SOURCES:
OWASP — [Session Management](https://cheatsheetseries.owasp.org/cheatsheets/Session_Management_Cheat_Sheet.html)
IETF — [Token Introspection, RFC 7662](https://www.rfc-editor.org/rfc/rfc7662.html)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9.
PLAIN-TEXT COMMANDS:
Copy from here or the Markdown/HTML source; colored PowerPoint code uses nonbreaking spaces for layout.
npm --prefix samples/oidc-web-app run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10.
SOURCES:
IETF — [JSON Web Token, RFC 7519](https://www.rfc-editor.org/rfc/rfc7519.html)
IETF — [JWT Best Current Practices, RFC 8725](https://www.rfc-editor.org/rfc/rfc8725.html)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13.
SOURCES:
IETF — [RFC 7519 §4.1, Registered Claim Names](https://www.rfc-editor.org/rfc/rfc7519.html)
Descope — [nOAuth: an unverified `email` claim enabled account takeover](https://www.descope.com/blog/post/noauth)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16.
SOURCES:
Course — [Week 8 lab, Part 3](../lab.md)
Course — [the hand-written validator](../samples/validate-token.mjs)
Course — [All server/client commands and expected exit codes](../samples/README.md)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17.
PLAIN-TEXT COMMANDS:
Copy from here or the Markdown/HTML source; colored PowerPoint code uses nonbreaking spaces for layout.
cd weeks\week08\samples
node authz-server.mjs
SOURCES: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18.
PLAIN-TEXT COMMANDS:
Copy from here or the Markdown/HTML source; colored PowerPoint code uses nonbreaking spaces for layout.
cd weeks/week08/samples
node authz-server.mjs
SOURCES:
Course — [lab authorization server](../samples/authz-server.mjs)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19.
PLAIN-TEXT COMMANDS:
Copy from here or the Markdown/HTML source; colored PowerPoint code uses nonbreaking spaces for layout.
cd weeks\week08\samples
node validate-token.mjs --variant valid --decode-only
node validate-token.mjs --variant valid --scope campuspulse.read
SOURCES:
Course — [the hand-written validator](../samples/validate-token.mjs)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20.
PLAIN-TEXT COMMANDS:
Copy from here or the Markdown/HTML source; colored PowerPoint code uses nonbreaking spaces for layout.
cd weeks/week08/samples
node validate-token.mjs --variant valid --decode-only
node validate-token.mjs --variant valid --scope campuspulse.read
SOURCES:
Course — [the hand-written validator](../samples/validate-token.mjs)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21.
PLAIN-TEXT COMMANDS:
Copy from here or the Markdown/HTML source; colored PowerPoint code uses nonbreaking spaces for layout.
node tamper.mjs                       # writes out\forged.txt
node validate-token.mjs --token-file out\forged.txt `
  --scope campuspulse.incident.write
SOURCES:
Course — [tamper.mjs](../samples/tamper.mjs)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22.
PLAIN-TEXT COMMANDS:
Copy from here or the Markdown/HTML source; colored PowerPoint code uses nonbreaking spaces for layout.
node tamper.mjs                     # writes out/forged.txt
node validate-token.mjs --token-file out/forged.txt \
  --scope campuspulse.incident.write
SOURCES:
Course — [tamper.mjs](../samples/tamper.mjs)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27.
PLAIN-TEXT COMMANDS:
Copy from here or the Markdown/HTML source; colored PowerPoint code uses nonbreaking spaces for layout.
foreach ($v in 'expired','wrong-issuer','wrong-audience',
               'no-scope','id-token','stale-kid') {
  "===== $v ====="
  node validate-token.mjs --variant $v --scope campuspulse.read
}
Get-Content .\transcripts\part3-negatives.txt   # fallback capture
if (Test-Path .\out\forged.txt) {
  Remove-Item -LiteralPath .\out\forged.txt
} # Ctrl+C in Terminal A
SOURCES:
Course — [captured negative battery](../samples/transcripts/part3-negatives.txt)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28.
PLAIN-TEXT COMMANDS:
Copy from here or the Markdown/HTML source; colored PowerPoint code uses nonbreaking spaces for layout.
for v in expired wrong-issuer wrong-audience \
         no-scope id-token stale-kid; do
  printf '===== %s =====\n' "$v"
  node validate-token.mjs --variant "$v" --scope campuspulse.read
done
head -n 60 ./transcripts/part3-negatives.txt   # fallback capture
rm -f ./out/forged.txt                         # cleanup; Ctrl+C in A
SOURCES:
Course — [captured negative battery](../samples/transcripts/part3-negatives.txt)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29.
SOURCES:
IETF — [RFC 6750 §3, the `WWW-Authenticate` challenge](https://www.rfc-editor.org/rfc/rfc6750.html)
Course — [captured negative battery](../samples/transcripts/part3-negatives.txt)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30.
SOURCES:
Auth0 — [Critical vulnerabilities in JSON Web Token libraries](https://auth0.com/blog/critical-vulnerabilities-in-json-web-token-libraries/)
OWASP — [JSON Web Token Cheat Sheet](https://cheatsheetseries.owasp.org/cheatsheets/JSON_Web_Token_Cheat_Sheet.html)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31.
SOURCES:
NIST NVD — [CVE-2015-9235](https://nvd.nist.gov/vuln/detail/CVE-2015-9235) (RS→HS confusion)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33.
SOURCES:
IETF — [RFC 6750 §3, the `WWW-Authenticate` challenge](https://www.rfc-editor.org/rfc/rfc6750.html)
IETF — [RFC 9449, DPoP — sender-constrained tokens](https://www.rfc-editor.org/rfc/rfc9449.html)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B, slide 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6.
SOURCES:
OWASP — [Session Management Cheat Sheet](https://cheatsheetseries.owasp.org/cheatsheets/Session_Management_Cheat_Sheet.html)
MDN — [`Set-Cookie` and its attributes](https://developer.mozilla.org/en-US/docs/Web/HTTP/Reference/Headers/Set-Cookie)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7.
PLAIN-TEXT COMMANDS:
Copy from here or the Markdown/HTML source; colored PowerPoint code uses nonbreaking spaces for layout.
npm --prefix samples/oidc-web-app run demo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8.
SOURCES:
IETF — [RFC 7009, Token Revocation](https://www.rfc-editor.org/rfc/rfc7009.html)
OpenID Foundation — [RP-Initiated Logout](https://openid.net/specs/openid-connect-rpinitiated-1_0.html)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9.
SOURCES:
IETF — [RFC 9700, OAuth 2.0 Security Best Current Practice](https://www.rfc-editor.org/rfc/rfc9700.html)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11.
SOURCES:
MCP — [Authorization, specification 2026-07-28](https://modelcontextprotocol.io/specification/2026-07-28/basic/authorization)
IETF — [RFC 9728, Protected Resource Metadata](https://www.rfc-editor.org/rfc/rfc9728.html)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13.
SOURCES:
Course — [Week 8 lab, Parts 0 and 5](../lab.md)
Course — [authorization proxy](../samples/mcp-auth-proxy.mjs)
Course — [Every server/client command and recovery step](../samples/README.md)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14.
PLAIN-TEXT COMMANDS:
Copy from here or the Markdown/HTML source; colored PowerPoint code uses nonbreaking spaces for layout.
# A:
cd weeks\week08\samples
$env:PORT='9100'; node authz-server.mjs
# B:
cd weeks\week08\samples
$env:MCP_UPSTREAM='http://127.0.0.1:8931/mcp'
$env:PORT='8930'; node mcp-auth-proxy.mjs
SOURCES:
Course — [Week 8 lab, Part 0](../lab.md)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15.
PLAIN-TEXT COMMANDS:
Copy from here or the Markdown/HTML source; colored PowerPoint code uses nonbreaking spaces for layout.
# A:
cd weeks/week08/samples
PORT=9100 node authz-server.mjs
# B:
cd weeks/week08/samples
PORT=8930 MCP_UPSTREAM=http://127.0.0.1:8931/mcp node mcp-auth-proxy.mjs
SOURCES:
Course — [Week 8 lab, Part 0](../lab.md)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16.
PLAIN-TEXT COMMANDS:
Copy from here or the Markdown/HTML source; colored PowerPoint code uses nonbreaking spaces for layout.
cd samples\mcp-starter
npm ci                      # before class
npm run build               # before class
$env:MCP_HOST='127.0.0.1'; $env:PORT='8931'
$env:DATABASE_URL=$null
npm run start:http
SOURCES:
Course — [starter quick start](../../../samples/mcp-starter/README.md)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17.
PLAIN-TEXT COMMANDS:
Copy from here or the Markdown/HTML source; colored PowerPoint code uses nonbreaking spaces for layout.
cd samples/mcp-starter
npm ci                      # before class
npm run build               # before class
MCP_HOST=127.0.0.1 PORT=8931 env -u DATABASE_URL npm run start:http
SOURCES:
Course — [starter quick start](../../../samples/mcp-starter/README.md)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18.
PLAIN-TEXT COMMANDS:
Copy from here or the Markdown/HTML source; colored PowerPoint code uses nonbreaking spaces for layout.
cd weeks\week08\samples
$proxy = 'http://127.0.0.1:8930'
curl.exe --noproxy '*' -sS -i --max-time 10 "$proxy/mcp" -d "{}" `
  -H "content-type: application/json" -H "Mcp-Method: tools/call" `
  -H "Mcp-Name: post_incident_update" `
  -H "Mcp-Protocol-Version: 2026-07-28"
curl.exe --noproxy '*' -sS --max-time 10 `
  "$proxy/.well-known/oauth-protected-resource"
SOURCES:
IETF — [RFC 9728, Protected Resource Metadata](https://www.rfc-editor.org/rfc/rfc9728.html)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19.
PLAIN-TEXT COMMANDS:
Copy from here or the Markdown/HTML source; colored PowerPoint code uses nonbreaking spaces for layout.
cd weeks/week08/samples
PROXY=http://127.0.0.1:8930
curl -sS -i --noproxy '*' --max-time 10 "$PROXY/mcp" -d '{}' \
  -H "content-type: application/json" -H "Mcp-Method: tools/call" \
  -H "Mcp-Name: post_incident_update" \
  -H "Mcp-Protocol-Version: 2026-07-28"
curl -sS --noproxy '*' --max-time 10 \
  "$PROXY/.well-known/oauth-protected-resource"
SOURCES:
IETF — [RFC 9728, Protected Resource Metadata](https://www.rfc-editor.org/rfc/rfc9728.html)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20.
PLAIN-TEXT COMMANDS:
Copy from here or the Markdown/HTML source; colored PowerPoint code uses nonbreaking spaces for layout.
node mcp-client-walk.mjs
node mcp-client-walk.mjs --tool post_incident_update
node mcp-client-walk.mjs --tool post_incident_update `
  --login-as operator
node mcp-client-walk.mjs --tool get_incident
SOURCES:
Course — [local MCP authorization walk](../samples/mcp-client-walk.mjs)
Course — [real-provider integration and limits](../provider-integration.md)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21.
PLAIN-TEXT COMMANDS:
Copy from here or the Markdown/HTML source; colored PowerPoint code uses nonbreaking spaces for layout.
node mcp-client-walk.mjs
node mcp-client-walk.mjs --tool post_incident_update
node mcp-client-walk.mjs --tool post_incident_update \
  --login-as operator
node mcp-client-walk.mjs --tool get_incident
SOURCES:
Course — [local MCP authorization walk](../samples/mcp-client-walk.mjs)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22.
SOURCES:
MCP — [Authorization, specification 2026-07-28](https://modelcontextprotocol.io/specification/2026-07-28/basic/authorization)
Course — [captured walks](../samples/transcripts/part5-viewer-write-denied.txt)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27.
PLAIN-TEXT COMMANDS:
Copy from here or the Markdown/HTML source; colored PowerPoint code uses nonbreaking spaces for layout.
# Stop your proxy with Ctrl+C; run the bug mode:
$env:ENFORCE_STREAM_EXPIRY='0'; node mcp-auth-proxy.mjs
# AFTER Terminal D's bug run: Ctrl+C here, then:
$env:ENFORCE_STREAM_EXPIRY='1'; node mcp-auth-proxy.mjs
SOURCES:
Course — [captured bug run](../samples/transcripts/part6-expiry-bug.txt)
Course — [captured enforced run](../samples/transcripts/part6-expiry-enforced.txt)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28.
PLAIN-TEXT COMMANDS:
Copy from here or the Markdown/HTML source; colored PowerPoint code uses nonbreaking spaces for layout.
# While B is in bug mode:
node expiry-mid-connection.mjs --ttl 6 --watch 14
# Switch B to enforced mode, then:
node expiry-mid-connection.mjs --ttl 8 --watch 22
Get-Content .\transcripts\part6-expiry-bug.txt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29.
PLAIN-TEXT COMMANDS:
Copy from here or the Markdown/HTML source; colored PowerPoint code uses nonbreaking spaces for layout.
# B: Ctrl+C, then restart the proxy with enforcement OFF
ENFORCE_STREAM_EXPIRY=0 \
  MCP_UPSTREAM=http://127.0.0.1:8931/mcp node mcp-auth-proxy.mjs
# B: Ctrl+C, then restart it enforced
ENFORCE_STREAM_EXPIRY=1 \
  MCP_UPSTREAM=http://127.0.0.1:8931/mcp node mcp-auth-proxy.mjs
SOURCES:
Course — [captured bug run](../samples/transcripts/part6-expiry-bug.txt)
Course — [captured enforced run](../samples/transcripts/part6-expiry-enforced.txt)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30.
PLAIN-TEXT COMMANDS:
Copy from here or the Markdown/HTML source; colored PowerPoint code uses nonbreaking spaces for layout.
# While B is in bug mode:
node expiry-mid-connection.mjs --ttl 6 --watch 14
# Switch B to enforced mode, then:
node expiry-mid-connection.mjs --ttl 8 --watch 22
head -n 40 ./transcripts/part6-expiry-bug.txt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content; source Block C, slide 31.
SOURCES:
MCP — [Scope selection and step-up authorization, spec 2026-07-28](https://modelcontextprotocol.io/specification/2026-07-28/basic/authorization)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practice; source Block C, slide 32.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homework; source Block C, slide 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DELIVERY: closing; source Block C, slide 34.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oidc-web-app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hyperlink" Target="https://openid.net/specs/openid-connect-core-1_0.html" TargetMode="External"/><Relationship Id="rId2" Type="http://schemas.openxmlformats.org/officeDocument/2006/relationships/hyperlink" Target="https://www.rfc-editor.org/rfc/rfc8414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517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636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../samples/authz-server.mjs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uthz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uthz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00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636.html" TargetMode="External"/><Relationship Id="rId2" Type="http://schemas.openxmlformats.org/officeDocument/2006/relationships/hyperlink" Target="https://www.rfc-editor.org/rfc/rfc9700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2-pkce-negative.txt" TargetMode="External"/><Relationship Id="rId2" Type="http://schemas.openxmlformats.org/officeDocument/2006/relationships/hyperlink" Target="../samples/fixtures/discovery-google.js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2-pkce-negative.txt" TargetMode="External"/><Relationship Id="rId2" Type="http://schemas.openxmlformats.org/officeDocument/2006/relationships/hyperlink" Target="../samples/fixtures/discovery-google.json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00.html" TargetMode="External"/><Relationship Id="rId2" Type="http://schemas.openxmlformats.org/officeDocument/2006/relationships/hyperlink" Target="https://www.rfc-editor.org/rfc/rfc9207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/basic/authoriza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06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662.html" TargetMode="External"/><Relationship Id="rId2" Type="http://schemas.openxmlformats.org/officeDocument/2006/relationships/hyperlink" Target="https://www.rfc-editor.org/rfc/rfc9068.html" TargetMode="External"/><Relationship Id="rId3" Type="http://schemas.openxmlformats.org/officeDocument/2006/relationships/hyperlink" Target="https://curity.io/resources/learn/phantom-token-pattern/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hyperlink" Target="https://cheatsheetseries.owasp.org/cheatsheets/Session_Management_Cheat_Sheet.html" TargetMode="External"/><Relationship Id="rId2" Type="http://schemas.openxmlformats.org/officeDocument/2006/relationships/hyperlink" Target="https://www.rfc-editor.org/rfc/rfc7662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519.html" TargetMode="External"/><Relationship Id="rId2" Type="http://schemas.openxmlformats.org/officeDocument/2006/relationships/hyperlink" Target="https://www.rfc-editor.org/rfc/rfc8725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519.html" TargetMode="External"/><Relationship Id="rId2" Type="http://schemas.openxmlformats.org/officeDocument/2006/relationships/hyperlink" Target="https://www.descope.com/blog/post/noauth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../samples/validate-token.mjs" TargetMode="External"/><Relationship Id="rId3" Type="http://schemas.openxmlformats.org/officeDocument/2006/relationships/hyperlink" Target="../samples/README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uthz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authz-serv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hyperlink" Target="../samples/validate-token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hyperlink" Target="../samples/validate-token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amp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amper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3-negatives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3-negatives.tx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6750.html" TargetMode="External"/><Relationship Id="rId2" Type="http://schemas.openxmlformats.org/officeDocument/2006/relationships/hyperlink" Target="../samples/transcripts/part3-negatives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hyperlink" Target="https://auth0.com/blog/critical-vulnerabilities-in-json-web-token-libraries/" TargetMode="External"/><Relationship Id="rId2" Type="http://schemas.openxmlformats.org/officeDocument/2006/relationships/hyperlink" Target="https://cheatsheetseries.owasp.org/cheatsheets/JSON_Web_Token_Cheat_Sheet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hyperlink" Target="https://nvd.nist.gov/vuln/detail/CVE-2015-9235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6750.html" TargetMode="External"/><Relationship Id="rId2" Type="http://schemas.openxmlformats.org/officeDocument/2006/relationships/hyperlink" Target="https://www.rfc-editor.org/rfc/rfc9449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hyperlink" Target="https://cheatsheetseries.owasp.org/cheatsheets/Session_Management_Cheat_Sheet.html" TargetMode="External"/><Relationship Id="rId2" Type="http://schemas.openxmlformats.org/officeDocument/2006/relationships/hyperlink" Target="https://developer.mozilla.org/en-US/docs/Web/HTTP/Reference/Headers/Set-Cookie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7009.html" TargetMode="External"/><Relationship Id="rId2" Type="http://schemas.openxmlformats.org/officeDocument/2006/relationships/hyperlink" Target="https://openid.net/specs/openid-connect-rpinitiated-1_0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00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/basic/authorization" TargetMode="External"/><Relationship Id="rId2" Type="http://schemas.openxmlformats.org/officeDocument/2006/relationships/hyperlink" Target="https://www.rfc-editor.org/rfc/rfc9728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image" Target="../media/image-8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hyperlink" Target="../samples/mcp-auth-proxy.mjs" TargetMode="External"/><Relationship Id="rId3" Type="http://schemas.openxmlformats.org/officeDocument/2006/relationships/hyperlink" Target="../samples/README.md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hyperlink" Target="../lab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mcp-starter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hyperlink" Target="../../../samples/mcp-starter/README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2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rfc-editor.org/rfc/rfc9728.htm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hyperlink" Target="../samples/mcp-client-walk.mjs" TargetMode="External"/><Relationship Id="rId2" Type="http://schemas.openxmlformats.org/officeDocument/2006/relationships/hyperlink" Target="../provider-integration.md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hyperlink" Target="../samples/mcp-client-walk.mj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/basic/authorization" TargetMode="External"/><Relationship Id="rId2" Type="http://schemas.openxmlformats.org/officeDocument/2006/relationships/hyperlink" Target="../samples/transcripts/part5-viewer-write-denied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6-expiry-bug.txt" TargetMode="External"/><Relationship Id="rId2" Type="http://schemas.openxmlformats.org/officeDocument/2006/relationships/hyperlink" Target="../samples/transcripts/part6-expiry-enforced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hyperlink" Target="../samples/transcripts/part6-expiry-bug.txt" TargetMode="External"/><Relationship Id="rId2" Type="http://schemas.openxmlformats.org/officeDocument/2006/relationships/hyperlink" Target="../samples/transcripts/part6-expiry-enforced.txt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hyperlink" Target="https://modelcontextprotocol.io/specification/2026-07-28/basic/authorization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hyperlink" Target="../homework.m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1676400"/>
            <a:ext cx="95250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038350"/>
            <a:ext cx="10287000" cy="14824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4575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Identity: OAuth, OIDC, Claims — and Authorizing the MCP Server</a:t>
            </a:r>
            <a:endParaRPr lang="en-US" sz="4575" dirty="0"/>
          </a:p>
        </p:txBody>
      </p:sp>
      <p:sp>
        <p:nvSpPr>
          <p:cNvPr id="8" name="Text 6"/>
          <p:cNvSpPr/>
          <p:nvPr/>
        </p:nvSpPr>
        <p:spPr>
          <a:xfrm>
            <a:off x="685800" y="3635064"/>
            <a:ext cx="9525000" cy="1241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3985"/>
              </a:lnSpc>
              <a:buNone/>
            </a:pPr>
            <a:r>
              <a:rPr lang="en-US" sz="25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Review, preparation, logistics, teaching, individual practice, and the end-of-class brief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685800" y="4991100"/>
            <a:ext cx="258127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4991100"/>
            <a:ext cx="258127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8 · Full session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381375" y="4991100"/>
            <a:ext cx="1533525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1375" y="4991100"/>
            <a:ext cx="1533525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minutes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4991100"/>
            <a:ext cx="2266950" cy="381000"/>
          </a:xfrm>
          <a:prstGeom prst="roundRect">
            <a:avLst>
              <a:gd name="adj" fmla="val 120000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4991100"/>
            <a:ext cx="2266950" cy="381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Updated 2026-10-29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words behind "Sign in with..."</a:t>
            </a:r>
            <a:endParaRPr lang="en-US" sz="3528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38175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268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1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51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1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Think of your student project</a:t>
                      </a:r>
                      <a:endParaRPr lang="en-US" sz="151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"Who signed in?" A campus identity check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Authorization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"May this person post a Wi-Fi outage update?"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OAuth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Delegated authorization: let an app act without giving it your password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OpenID Connect (OIDC)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login layer on OAuth: tells the client who signed in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token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temporary credential the app presents to a service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named permission, such as read status but not write updates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Acronyms you will see on the wire</a:t>
            </a:r>
            <a:endParaRPr lang="en-US" sz="3864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8397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51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 name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56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 name and job</a:t>
                      </a:r>
                      <a:endParaRPr lang="en-US" sz="165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777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Programming Interface: software calls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JavaScript Object Notation: structured data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Web Token: a claims format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JWKS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Web Key Set: public verification keys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744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PKCE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Proof Key for Code Exchange ("pixy")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774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/ TLS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94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Hypertext Transfer Protocol / Transport Layer Security</a:t>
                      </a:r>
                      <a:endParaRPr lang="en-US" sz="179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Short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shipped last week, exactly as you left it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2453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Recall the Week 7 starter's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/healthz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response: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"authorization":"none"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has real tools, a real state-changing action, and a real MCP App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authorization, anyone who can reach that port can call its tools; this is why the Week 7 exercise stayed on loopback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Prelecture review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answers from your prep, before we start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Q1 — What is OAuth actually for?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685800" y="2909171"/>
            <a:ext cx="5219700" cy="19153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 — letting one app act on your behalf at another, without your password.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you picked "proving who you are," that is the mistake this block spends its first minutes correcting.</a:t>
            </a:r>
            <a:endParaRPr lang="en-US" sz="2112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Q4 — What does jwt.io prove?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6286500" y="2909171"/>
            <a:ext cx="5219700" cy="30097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 — decoding alone only shows contents, not whether they are trustworthy.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debugger may also verify a signature if correctly configured; that still does not decide your application's permissions. Do not upload real tokens.</a:t>
            </a:r>
            <a:endParaRPr lang="en-US" sz="2112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Addresses you will configure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58620"/>
            <a:ext cx="10820400" cy="3459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(Uniform Resource Locator):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web address you can open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URI (Uniform Resource Identifier):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 identifier; our callback URIs are URLs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Endpoint: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specific address an application calls for one job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Callback: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where the provider sends your browser back after approval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HTTP protected by TLS; encrypts traffic between endpoints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Configuration is an address book, not magic</a:t>
            </a:r>
            <a:endParaRPr lang="en-US" sz="3612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02323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329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4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Setting</a:t>
                      </a: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4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identifies</a:t>
                      </a: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Tenant / issuer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 workspace / exact token issuer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Discovery URL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Endpoint directory at a trusted web address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37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ID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Public registration identifier for your app, not a password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Redirect URI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Registered callback address receiving the code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/ audience (aud)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requested / token's intended recipient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37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secret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Backend-only credential; never put it in browser code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Weekly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Two scopes, one isolation rule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Permissions to configure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325453"/>
            <a:ext cx="5219700" cy="3307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Read: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campuspulse.read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Write: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campuspulse.incident.write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your assigned registrations, not another student's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Keep it isolated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325453"/>
            <a:ext cx="5219700" cy="3307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server on </a:t>
            </a:r>
            <a:r>
              <a:rPr lang="en-US" sz="24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(loopback: only this computer)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not expose an unauthenticated endpoint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Missing tenant values: contact the instructor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any command: choose the course root</a:t>
            </a:r>
            <a:endParaRPr lang="en-US" sz="3528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38175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268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1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starting point</a:t>
                      </a:r>
                      <a:endParaRPr lang="en-US" sz="151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1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Where to run commands</a:t>
                      </a:r>
                      <a:endParaRPr lang="en-US" sz="151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Master checkout (instructor + student)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cd instructor in each new terminal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Downloaded student course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Stay in its top folder, containing weeks and samples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Caption says "repository root" below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means this course-content root, not the master checkout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4812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PowerShell / macOS slides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Choose one shell; do not run both alternatives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2479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Runtime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38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Node.js 24 LTS (Long-Term Support); use node --version to check</a:t>
                      </a:r>
                      <a:endParaRPr lang="en-US" sz="163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Every demo: servers, clients, expected results, cleanup</a:t>
            </a:r>
            <a:endParaRPr lang="en-US" sz="12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First, a login that comes back to your app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2257974"/>
            <a:ext cx="10820400" cy="1543202"/>
          </a:xfrm>
          <a:prstGeom prst="roundRect">
            <a:avLst>
              <a:gd name="adj" fmla="val 3555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5797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7702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course-content root - one terminal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707554"/>
            <a:ext cx="10439400" cy="96789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--prefix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samples\mcp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-starter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ci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--prefix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samples\oidc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-web-app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ci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--prefix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samples\oidc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-web-app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run demo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3938336"/>
            <a:ext cx="10820400" cy="1739777"/>
          </a:xfrm>
          <a:prstGeom prst="roundRect">
            <a:avLst>
              <a:gd name="adj" fmla="val 262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38336"/>
            <a:ext cx="76200" cy="173977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52636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382201"/>
            <a:ext cx="10363200" cy="114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launcher starts the browser application's backend, a local identity provider, and the authenticated resource server. Open the printed application URL.</a:t>
            </a:r>
            <a:endParaRPr lang="en-US" sz="203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Complete browser sign-in demo</a:t>
            </a:r>
            <a:endParaRPr lang="en-US" sz="12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17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same complete browser application</a:t>
            </a:r>
            <a:endParaRPr lang="en-US" sz="4032" dirty="0"/>
          </a:p>
        </p:txBody>
      </p:sp>
      <p:sp>
        <p:nvSpPr>
          <p:cNvPr id="7" name="Shape 5"/>
          <p:cNvSpPr/>
          <p:nvPr/>
        </p:nvSpPr>
        <p:spPr>
          <a:xfrm>
            <a:off x="685800" y="2341449"/>
            <a:ext cx="10820400" cy="1601633"/>
          </a:xfrm>
          <a:prstGeom prst="roundRect">
            <a:avLst>
              <a:gd name="adj" fmla="val 342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4144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36049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course-content root - one terminal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791029"/>
            <a:ext cx="10439400" cy="102632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samples/mcp-starter ci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samples/oidc-web-app ci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samples/oidc-web-app run demo</a:t>
            </a:r>
            <a:endParaRPr lang="en-US" sz="1728" dirty="0"/>
          </a:p>
        </p:txBody>
      </p:sp>
      <p:sp>
        <p:nvSpPr>
          <p:cNvPr id="11" name="Shape 9"/>
          <p:cNvSpPr/>
          <p:nvPr/>
        </p:nvSpPr>
        <p:spPr>
          <a:xfrm>
            <a:off x="685800" y="4089386"/>
            <a:ext cx="10820400" cy="1829346"/>
          </a:xfrm>
          <a:prstGeom prst="roundRect">
            <a:avLst>
              <a:gd name="adj" fmla="val 249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89386"/>
            <a:ext cx="76200" cy="18293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03686"/>
            <a:ext cx="1036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84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914400" y="4552682"/>
            <a:ext cx="10363200" cy="1213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the printed application URL, not a guessed port. The page is the interface; the backend is the OAuth client. Keep the launcher running until Ctrl+C.</a:t>
            </a:r>
            <a:endParaRPr lang="en-US" sz="216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Try it as a student, then as the help desk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means you return to a working page and see actual data. A callback connection error is not a completed sign-in. No external tenant is needed.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Viewer: "Is campus Wi-Fi down?"</a:t>
            </a:r>
            <a:endParaRPr lang="en-US" sz="1710" dirty="0"/>
          </a:p>
        </p:txBody>
      </p:sp>
      <p:sp>
        <p:nvSpPr>
          <p:cNvPr id="12" name="Text 10"/>
          <p:cNvSpPr/>
          <p:nvPr/>
        </p:nvSpPr>
        <p:spPr>
          <a:xfrm>
            <a:off x="685800" y="4343423"/>
            <a:ext cx="5219700" cy="1620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Click </a:t>
            </a: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with course identity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this run's synthetic viewer account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services and </a:t>
            </a: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INC-2026-0016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4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out; finish the provider prompt</a:t>
            </a:r>
            <a:endParaRPr lang="en-US" sz="1824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51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71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Operator: "I can publish an update"</a:t>
            </a:r>
            <a:endParaRPr lang="en-US" sz="1710" dirty="0"/>
          </a:p>
        </p:txBody>
      </p:sp>
      <p:sp>
        <p:nvSpPr>
          <p:cNvPr id="14" name="Text 12"/>
          <p:cNvSpPr/>
          <p:nvPr/>
        </p:nvSpPr>
        <p:spPr>
          <a:xfrm>
            <a:off x="6286500" y="4343423"/>
            <a:ext cx="5219700" cy="16203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1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 with the synthetic operator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2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 text, then </a:t>
            </a: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update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3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Confirm and publish</a:t>
            </a: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see the timeline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Font typeface="+mj-lt"/>
              <a:buAutoNum type="arabicPeriod" startAt="4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out, then Ctrl+C in the launcher</a:t>
            </a:r>
            <a:endParaRPr lang="en-US" sz="1824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Who can keep a client secret?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Public client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685800" y="2325453"/>
            <a:ext cx="5219700" cy="2164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code or an installed app is inspectable by its user. An embedded secret cannot stay secret. Use PKCE, not a hidden password.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4334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25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Confidential client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286500" y="2325453"/>
            <a:ext cx="5219700" cy="2578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backend can keep its credential on the server. Our Backend-for-Frontend (BFF) is this OAuth client; the browser is its interface. It still uses PKCE.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redirect's small pieces each have one job</a:t>
            </a:r>
            <a:endParaRPr lang="en-US" sz="3276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Piece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your client does with it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Short-lived, single-use exchange ticket; not an API credential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Verifier / challenge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 a random secret; send its one-way hash first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S256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SHA-256 (Secure Hash Algorithm, 256-bit) challenge method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 callback to the pending login; resist cross-site request forgery (CSRF)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nonce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"Number used once": match the identity token to this login attempt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Bearer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Whoever possesses the access token can use it; keep it private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428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a stolen code is not yet a stolen token</a:t>
            </a:r>
            <a:endParaRPr lang="en-US" sz="4116" dirty="0"/>
          </a:p>
        </p:txBody>
      </p:sp>
      <p:sp>
        <p:nvSpPr>
          <p:cNvPr id="7" name="Text 5"/>
          <p:cNvSpPr/>
          <p:nvPr/>
        </p:nvSpPr>
        <p:spPr>
          <a:xfrm>
            <a:off x="685800" y="239061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 authorizes the client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685800" y="292013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 requested: </a:t>
            </a: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campuspulse.read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returns a short-lived code to the client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password is entered only at the identity provider</a:t>
            </a:r>
            <a:endParaRPr lang="en-US" sz="2304" dirty="0"/>
          </a:p>
        </p:txBody>
      </p:sp>
      <p:sp>
        <p:nvSpPr>
          <p:cNvPr id="9" name="Text 7"/>
          <p:cNvSpPr/>
          <p:nvPr/>
        </p:nvSpPr>
        <p:spPr>
          <a:xfrm>
            <a:off x="6286500" y="2390610"/>
            <a:ext cx="5219700" cy="4198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16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Another app takes the code</a:t>
            </a:r>
            <a:endParaRPr lang="en-US" sz="2160" dirty="0"/>
          </a:p>
        </p:txBody>
      </p:sp>
      <p:sp>
        <p:nvSpPr>
          <p:cNvPr id="10" name="Text 8"/>
          <p:cNvSpPr/>
          <p:nvPr/>
        </p:nvSpPr>
        <p:spPr>
          <a:xfrm>
            <a:off x="6286500" y="2920139"/>
            <a:ext cx="5219700" cy="2768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has the code but not the client's random verifier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token endpoint rejects the mismatched PKCE proof</a:t>
            </a:r>
            <a:endParaRPr lang="en-US" sz="2304" dirty="0"/>
          </a:p>
          <a:p>
            <a:pPr algn="l" marL="342900" indent="-342900">
              <a:lnSpc>
                <a:spcPct val="105263"/>
              </a:lnSpc>
              <a:spcAft>
                <a:spcPts val="576"/>
              </a:spcAft>
              <a:buSzPct val="100000"/>
              <a:buChar char="▪"/>
            </a:pPr>
            <a:r>
              <a:rPr lang="en-US" sz="23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</a:t>
            </a:r>
            <a:r>
              <a:rPr lang="en-US" sz="230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protects the client session; PKCE protects the code</a:t>
            </a:r>
            <a:endParaRPr lang="en-US" sz="2304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2000250"/>
            <a:ext cx="76200" cy="2667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8700" y="2000250"/>
            <a:ext cx="8953500" cy="2667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1729"/>
              </a:lnSpc>
              <a:buNone/>
            </a:pPr>
            <a:r>
              <a:rPr lang="en-US" sz="3300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study planner needs permission to read your timetable. It does not need your campus password, your grades, or permission to change your courses.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66800" y="4762500"/>
            <a:ext cx="10439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The sentence that makes OAuth make sense</a:t>
            </a:r>
            <a:endParaRPr lang="en-US" sz="1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151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problem was never "log in". It was "act on my behalf"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2230148"/>
            <a:ext cx="10820400" cy="1861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study planner needs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timetable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not your campus password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Password sharing gives it whatever your whole account can do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lets the provider grant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limited permissions and a token lifetime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approve at the provider; later calls carry a token, not your password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4209215"/>
            <a:ext cx="10820400" cy="1709921"/>
          </a:xfrm>
          <a:prstGeom prst="roundRect">
            <a:avLst>
              <a:gd name="adj" fmla="val 2674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09215"/>
            <a:ext cx="76200" cy="1709921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323515"/>
            <a:ext cx="10363200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2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52" dirty="0"/>
          </a:p>
        </p:txBody>
      </p:sp>
      <p:sp>
        <p:nvSpPr>
          <p:cNvPr id="11" name="Text 9"/>
          <p:cNvSpPr/>
          <p:nvPr/>
        </p:nvSpPr>
        <p:spPr>
          <a:xfrm>
            <a:off x="914400" y="4646603"/>
            <a:ext cx="10363200" cy="11201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answers </a:t>
            </a: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"may this software do this specific thing to this resource on behalf of this person?"</a:t>
            </a: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It does not answer </a:t>
            </a: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"who is this person?"</a:t>
            </a: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is OIDC, and confusing the two is the most expensive mistake in this unit.</a:t>
            </a:r>
            <a:endParaRPr lang="en-US" sz="198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actors, and where trust stops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1777670"/>
            <a:ext cx="10820400" cy="35258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actors, two trust boundaries. Everything that goes wrong this week goes wrong at a boundary.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OIDC is a profile of OAuth, not a competitor</a:t>
            </a:r>
            <a:endParaRPr lang="en-US" sz="3612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02323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329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4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OAuth 2.x</a:t>
                      </a: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4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OpenID Connect</a:t>
                      </a:r>
                      <a:endParaRPr lang="en-US" sz="154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Answers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 this app do X?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…and who is the user?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 get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access_token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…plus an id_token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Consumed by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API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client, once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opaque or JWT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always a JWT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547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Metadata doc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RFC 8414 (optional)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OIDC Discovery (optional)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379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Claims (token fields)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format/profile-specific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77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issuer, subject, audience, expiry, issued-at</a:t>
                      </a:r>
                      <a:endParaRPr lang="en-US" sz="1677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OpenID Foundation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OpenID Connect Core 1.0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8414, Authorization Server Metadata</a:t>
            </a:r>
            <a:endParaRPr lang="en-US" sz="12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Discover the provider's endpoints</a:t>
            </a:r>
            <a:endParaRPr lang="en-US" sz="3528" dirty="0"/>
          </a:p>
        </p:txBody>
      </p:sp>
      <p:sp>
        <p:nvSpPr>
          <p:cNvPr id="7" name="Shape 5"/>
          <p:cNvSpPr/>
          <p:nvPr/>
        </p:nvSpPr>
        <p:spPr>
          <a:xfrm>
            <a:off x="685800" y="1638175"/>
            <a:ext cx="10820400" cy="2848143"/>
          </a:xfrm>
          <a:prstGeom prst="roundRect">
            <a:avLst>
              <a:gd name="adj" fmla="val 192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38175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57225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abbreviated snapshot; use curl.exe in PowerShell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87755"/>
            <a:ext cx="10439400" cy="227283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-fsS https://accounts.google.com/.well-known/openid-configuration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"issuer": "https://accounts.google.com",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"authorization_endpoint": "https://accounts.google.com/o/oauth2/v2/auth",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"token_endpoint": "https://oauth2.googleapis.com/token",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"jwks_uri": "https://www.googleapis.com/oauth2/v3/certs",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"code_challenge_methods_supported": ["plain", "S256"]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12" dirty="0"/>
          </a:p>
        </p:txBody>
      </p:sp>
      <p:sp>
        <p:nvSpPr>
          <p:cNvPr id="11" name="Shape 9"/>
          <p:cNvSpPr/>
          <p:nvPr/>
        </p:nvSpPr>
        <p:spPr>
          <a:xfrm>
            <a:off x="685800" y="4614334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14334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28634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4" name="Text 12"/>
          <p:cNvSpPr/>
          <p:nvPr/>
        </p:nvSpPr>
        <p:spPr>
          <a:xfrm>
            <a:off x="914400" y="5038768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discovery from an issuer you trust. Read its endpoint addresses rather than guessing paths. In PowerShell use </a:t>
            </a:r>
            <a:r>
              <a:rPr lang="en-US" sz="189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</a:t>
            </a: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on macOS use </a:t>
            </a:r>
            <a:r>
              <a:rPr lang="en-US" sz="189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89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63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0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keys are public, plural, and they rotate</a:t>
            </a:r>
            <a:endParaRPr lang="en-US" sz="3108" dirty="0"/>
          </a:p>
        </p:txBody>
      </p:sp>
      <p:sp>
        <p:nvSpPr>
          <p:cNvPr id="7" name="Shape 5"/>
          <p:cNvSpPr/>
          <p:nvPr/>
        </p:nvSpPr>
        <p:spPr>
          <a:xfrm>
            <a:off x="685800" y="1562897"/>
            <a:ext cx="10820400" cy="2738586"/>
          </a:xfrm>
          <a:prstGeom prst="roundRect">
            <a:avLst>
              <a:gd name="adj" fmla="val 200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628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819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fetched live, 2026-08-15 — signature verification material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12477"/>
            <a:ext cx="10439400" cy="216327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-fsS -D - https://www.googleapis.com/oauth2/v3/certs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cache-control: no-transform, public, must-revalidate, max-age=21144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{"keys":[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{"kty":"RSA","alg":"RS256","use":"sig",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"kid":"49900291d36cec8c018f2e8af3ef235b8b18d3c9", "e":"AQAB", "n":"..."},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{"kty":"RSA","alg":"RS256","use":"sig",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"kid":"8ff13a6fcdabf306712e58f35668a04eb5a5fae1", "...":"..."},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{"kty":"RSA","alg":"RS256","use":"sig", "kid":"943a...7acba"},</a:t>
            </a:r>
            <a:endParaRPr lang="en-US" sz="127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7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{"kty":"RSA","alg":"RS256","use":"sig", "kid":"f10f...c271"}]}</a:t>
            </a:r>
            <a:endParaRPr lang="en-US" sz="1276" dirty="0"/>
          </a:p>
        </p:txBody>
      </p:sp>
      <p:sp>
        <p:nvSpPr>
          <p:cNvPr id="11" name="Shape 9"/>
          <p:cNvSpPr/>
          <p:nvPr/>
        </p:nvSpPr>
        <p:spPr>
          <a:xfrm>
            <a:off x="685800" y="4414259"/>
            <a:ext cx="10820400" cy="1212580"/>
          </a:xfrm>
          <a:prstGeom prst="roundRect">
            <a:avLst>
              <a:gd name="adj" fmla="val 377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14259"/>
            <a:ext cx="76200" cy="121258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28559"/>
            <a:ext cx="103632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4" name="Text 12"/>
          <p:cNvSpPr/>
          <p:nvPr/>
        </p:nvSpPr>
        <p:spPr>
          <a:xfrm>
            <a:off x="914400" y="4806308"/>
            <a:ext cx="10363200" cy="6681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dated snapshot had four keys; today's count and values may differ. </a:t>
            </a:r>
            <a:r>
              <a:rPr lang="en-US" sz="166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means key ID: match it, never choose the first key. PowerShell: </a:t>
            </a:r>
            <a:r>
              <a:rPr lang="en-US" sz="166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</a:t>
            </a: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669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7517, JSON Web Key</a:t>
            </a:r>
            <a:endParaRPr lang="en-US" sz="127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flow, end to end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Authorization Code with PKCE</a:t>
            </a:r>
            <a:endParaRPr lang="en-US" sz="4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flow you should default to, every time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3161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Ten steps. The browser carries the code; only the client can spend it.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PKCE is four lines of arithmetic</a:t>
            </a:r>
            <a:endParaRPr lang="en-US" sz="3024" dirty="0"/>
          </a:p>
        </p:txBody>
      </p:sp>
      <p:sp>
        <p:nvSpPr>
          <p:cNvPr id="7" name="Shape 5"/>
          <p:cNvSpPr/>
          <p:nvPr/>
        </p:nvSpPr>
        <p:spPr>
          <a:xfrm>
            <a:off x="685800" y="1547841"/>
            <a:ext cx="10820400" cy="2770236"/>
          </a:xfrm>
          <a:prstGeom prst="roundRect">
            <a:avLst>
              <a:gd name="adj" fmla="val 198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4784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6689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samples/pkce.mjs — the mechanism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JAVASCRIPT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97421"/>
            <a:ext cx="10439400" cy="219492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{ createHash, randomBytes } </a:t>
            </a: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'node:crypto'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b64url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b =&gt;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Buffer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(b).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toString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'base64url'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codeVerifier  =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b64url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randomBytes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)); </a:t>
            </a:r>
            <a:r>
              <a:rPr lang="en-US" sz="129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43 chars, 256 bits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codeChallenge =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b64url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createHash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9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'sha256'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(codeVerifier).</a:t>
            </a:r>
            <a:r>
              <a:rPr lang="en-US" sz="129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digest</a:t>
            </a: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());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AUTH request: code_challenge + method=S256</a:t>
            </a:r>
            <a:endParaRPr lang="en-US" sz="129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9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 TOKEN request: code_verifier, over TLS, from your client only</a:t>
            </a:r>
            <a:endParaRPr lang="en-US" sz="1296" dirty="0"/>
          </a:p>
        </p:txBody>
      </p:sp>
      <p:sp>
        <p:nvSpPr>
          <p:cNvPr id="11" name="Shape 9"/>
          <p:cNvSpPr/>
          <p:nvPr/>
        </p:nvSpPr>
        <p:spPr>
          <a:xfrm>
            <a:off x="685800" y="4427805"/>
            <a:ext cx="10820400" cy="1190517"/>
          </a:xfrm>
          <a:prstGeom prst="roundRect">
            <a:avLst>
              <a:gd name="adj" fmla="val 384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27805"/>
            <a:ext cx="76200" cy="119051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42105"/>
            <a:ext cx="1036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13377"/>
            <a:ext cx="10363200" cy="6525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</a:t>
            </a:r>
            <a:r>
              <a:rPr lang="en-US" sz="16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pkce.mjs</a:t>
            </a: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lab issuer running. Base64url makes URL-safe text; hashing makes a one-way fingerprint.</a:t>
            </a:r>
            <a:endParaRPr lang="en-US" sz="1624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7636, Proof Key for Code Exchange</a:t>
            </a:r>
            <a:endParaRPr lang="en-US" sz="127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Inspect a request; test its exchange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6572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1"/>
            </a:pP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weeks/week08/samples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Windows), course Node </a:t>
            </a: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LTS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2"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</a:t>
            </a:r>
            <a:r>
              <a:rPr lang="en-US" sz="220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lab issuer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:9100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not a real provider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Font typeface="+mj-lt"/>
              <a:buAutoNum type="arabicPeriod" startAt="3"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PKCE, then negatives. Ctrl+C in Terminal A after</a:t>
            </a:r>
            <a:endParaRPr lang="en-US" sz="2208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1380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builder: parameters only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Exchange: one success, four refusals</a:t>
            </a:r>
            <a:endParaRPr lang="en-US" sz="2160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4562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offline transcript slide.</a:t>
            </a:r>
            <a:endParaRPr lang="en-US" sz="2112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Parts 0–2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A: the lab issuer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315974"/>
          </a:xfrm>
          <a:prstGeom prst="roundRect">
            <a:avLst>
              <a:gd name="adj" fmla="val 416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Terminal A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74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authz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26994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26994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41294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703244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binds to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127.0.0.1:9100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prints its issuer, JWKS, and active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blocks.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lab issuer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315974"/>
          </a:xfrm>
          <a:prstGeom prst="roundRect">
            <a:avLst>
              <a:gd name="adj" fmla="val 416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Terminal A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74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authz-server.mjs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26994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26994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41294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703244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binds to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127.0.0.1:9100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prints its issuer, JWKS, and active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blocks.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build it, then break it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127504"/>
          </a:xfrm>
          <a:prstGeom prst="roundRect">
            <a:avLst>
              <a:gd name="adj" fmla="val 257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a fresh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15521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pkce.mjs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Inspect the URL only: this helper has no callback server.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-negative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3948006"/>
            <a:ext cx="10820400" cy="1739777"/>
          </a:xfrm>
          <a:prstGeom prst="roundRect">
            <a:avLst>
              <a:gd name="adj" fmla="val 262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48006"/>
            <a:ext cx="76200" cy="173977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2306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391871"/>
            <a:ext cx="10363200" cy="114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pkce.mjs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builds parameters. </a:t>
            </a:r>
            <a:r>
              <a:rPr lang="en-US" sz="20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pkce-negative.mjs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one successful exchange and four expected refusals. Use the browser demo for an actual sign-in.</a:t>
            </a:r>
            <a:endParaRPr lang="en-US" sz="203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2</a:t>
            </a:r>
            <a:endParaRPr lang="en-US" sz="127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build it, then break it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127504"/>
          </a:xfrm>
          <a:prstGeom prst="roundRect">
            <a:avLst>
              <a:gd name="adj" fmla="val 257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a fresh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15521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pkce.mjs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Inspect the URL only: this helper has no callback server.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pkce-negative.mjs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3948006"/>
            <a:ext cx="10820400" cy="1739777"/>
          </a:xfrm>
          <a:prstGeom prst="roundRect">
            <a:avLst>
              <a:gd name="adj" fmla="val 262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48006"/>
            <a:ext cx="76200" cy="173977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2306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391871"/>
            <a:ext cx="10363200" cy="114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pkce.mjs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builds parameters. </a:t>
            </a:r>
            <a:r>
              <a:rPr lang="en-US" sz="203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pkce-negative.mjs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makes one successful exchange and four expected refusals. Use the browser demo for an actual sign-in.</a:t>
            </a:r>
            <a:endParaRPr lang="en-US" sz="203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2</a:t>
            </a:r>
            <a:endParaRPr lang="en-US" sz="127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66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stolen code fails without the verifier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2285799"/>
            <a:ext cx="10820400" cy="3354537"/>
          </a:xfrm>
          <a:prstGeom prst="roundRect">
            <a:avLst>
              <a:gd name="adj" fmla="val 163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8579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30484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wrong verifier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735379"/>
            <a:ext cx="10439400" cy="277922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 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pkce-negative.mjs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[A] code  lab_798601197cd070b880b5caacf6a80c5bc83aeb…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 exchange with the WRONG code_verifier --------------------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 400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"error": "invalid_grant",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"error_description": "PKCE verification failed",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"expected_challenge": "z_1m6MhVmoJag5sEMKeOZYshyx…",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"computed_challenge": "S8PQCZIMviVjOxZP2iqQH5p…" }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9700, OAuth 2.0 Security Best Current Practice §2.1.1</a:t>
            </a:r>
            <a:endParaRPr lang="en-US" sz="127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failed exchange can burn the code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code, now with the right verifier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 the RIGHT verifier, on that same code --------------------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 400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 "error": "invalid_grant",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"error_description": "unknown or already-redeemed code" 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server burns the code after any redemption attempt. RFC 7636 requires rejection; test whether your provider also revokes.</a:t>
            </a:r>
            <a:endParaRPr lang="en-US" sz="2256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17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those failures prove</a:t>
            </a:r>
            <a:endParaRPr lang="en-US" sz="4116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4356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694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6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you saw</a:t>
                      </a:r>
                      <a:endParaRPr lang="en-US" sz="176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6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proves</a:t>
                      </a:r>
                      <a:endParaRPr lang="en-US" sz="176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6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does not prove</a:t>
                      </a:r>
                      <a:endParaRPr lang="en-US" sz="176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817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invalid_grant, wrong verifier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server enforces S256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provider does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817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vs computed shown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teaching affordance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 servers are this generous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817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Right verifier, code gone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This server burns the code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RFCs require revocation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94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No-PKCE request refused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OAuth 2.1 behavior, here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tenant refuses it too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9423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row above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local model of a provider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1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Anything about your tenant</a:t>
                      </a:r>
                      <a:endParaRPr lang="en-US" sz="191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7636 §4.6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9700 §2.1.1</a:t>
            </a:r>
            <a:endParaRPr lang="en-US" sz="127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Offline path, then shut it down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no network needed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.\weeks\week08\samples\transcripts\part2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-pkce-negative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.\weeks\week08\samples\fixtures\discovery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-google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.json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Cleanup: Ctrl+C in Terminal A; close the consent browser tab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109746"/>
          </a:xfrm>
          <a:prstGeom prst="roundRect">
            <a:avLst>
              <a:gd name="adj" fmla="val 412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1097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48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issuer's signing key lives in memory and dies with its process.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PKCE negatives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discovery snapshot, 2026-08-15</a:t>
            </a:r>
            <a:endParaRPr lang="en-US" sz="1275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offline path, then shut down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no network needed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./weeks/week08/samples/transcripts/part2-pkce-negative.txt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-n 40 ./weeks/week08/samples/fixtures/discovery-google.json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Cleanup: Ctrl+C in Terminal A; close the consent browser tab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109746"/>
          </a:xfrm>
          <a:prstGeom prst="roundRect">
            <a:avLst>
              <a:gd name="adj" fmla="val 412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1097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48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issuer's signing key lives in memory and dies with its process.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PKCE negatives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discovery snapshot, 2026-08-15</a:t>
            </a:r>
            <a:endParaRPr lang="en-US" sz="127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173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Five parameters, five different attacks</a:t>
            </a:r>
            <a:endParaRPr lang="en-US" sz="4032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341449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633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Parameter</a:t>
                      </a:r>
                      <a:endParaRPr lang="en-US" sz="172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From</a:t>
                      </a:r>
                      <a:endParaRPr lang="en-US" sz="172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Checked by</a:t>
                      </a:r>
                      <a:endParaRPr lang="en-US" sz="172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28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Stops</a:t>
                      </a:r>
                      <a:endParaRPr lang="en-US" sz="1728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state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client, on callback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CSRF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code_challenge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authz server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code interception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8038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nonce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client, in the ID token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token replay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authz server → aud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reuse at another API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876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authz server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client, on callback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72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provider mix-up</a:t>
                      </a:r>
                      <a:endParaRPr lang="en-US" sz="187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9700 §2.1, on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state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PKCE, and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nonce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9207, Authorization Server Issuer Identification</a:t>
            </a:r>
            <a:endParaRPr lang="en-US" sz="1275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the implicit flow died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it did</a:t>
            </a:r>
            <a:endParaRPr lang="en-US" sz="2070" dirty="0"/>
          </a:p>
        </p:txBody>
      </p:sp>
      <p:sp>
        <p:nvSpPr>
          <p:cNvPr id="8" name="Text 6"/>
          <p:cNvSpPr/>
          <p:nvPr/>
        </p:nvSpPr>
        <p:spPr>
          <a:xfrm>
            <a:off x="685800" y="2288945"/>
            <a:ext cx="5219700" cy="2264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Asked for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response_type=token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Got an </a:t>
            </a: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token in the URL fragment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code, no token endpoint, no exchange</a:t>
            </a:r>
            <a:endParaRPr lang="en-US" sz="2208" dirty="0"/>
          </a:p>
        </p:txBody>
      </p:sp>
      <p:sp>
        <p:nvSpPr>
          <p:cNvPr id="9" name="Shape 7"/>
          <p:cNvSpPr/>
          <p:nvPr/>
        </p:nvSpPr>
        <p:spPr>
          <a:xfrm>
            <a:off x="685800" y="4676291"/>
            <a:ext cx="5219700" cy="775137"/>
          </a:xfrm>
          <a:prstGeom prst="roundRect">
            <a:avLst>
              <a:gd name="adj" fmla="val 7078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6300" y="4885841"/>
            <a:ext cx="4838700" cy="43985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93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#access_token=…</a:t>
            </a:r>
            <a:endParaRPr lang="en-US" sz="1932" dirty="0"/>
          </a:p>
        </p:txBody>
      </p:sp>
      <p:sp>
        <p:nvSpPr>
          <p:cNvPr id="11" name="Text 9"/>
          <p:cNvSpPr/>
          <p:nvPr/>
        </p:nvSpPr>
        <p:spPr>
          <a:xfrm>
            <a:off x="6286500" y="177767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it is gone</a:t>
            </a:r>
            <a:endParaRPr lang="en-US" sz="2070" dirty="0"/>
          </a:p>
        </p:txBody>
      </p:sp>
      <p:sp>
        <p:nvSpPr>
          <p:cNvPr id="12" name="Text 10"/>
          <p:cNvSpPr/>
          <p:nvPr/>
        </p:nvSpPr>
        <p:spPr>
          <a:xfrm>
            <a:off x="6286500" y="2288945"/>
            <a:ext cx="5219700" cy="18720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land in history and logs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client authentication, ever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refresh token, no requester binding</a:t>
            </a:r>
            <a:endParaRPr lang="en-US" sz="2208" dirty="0"/>
          </a:p>
        </p:txBody>
      </p:sp>
      <p:sp>
        <p:nvSpPr>
          <p:cNvPr id="13" name="Shape 11"/>
          <p:cNvSpPr/>
          <p:nvPr/>
        </p:nvSpPr>
        <p:spPr>
          <a:xfrm>
            <a:off x="6286500" y="4283709"/>
            <a:ext cx="5219700" cy="1411150"/>
          </a:xfrm>
          <a:prstGeom prst="roundRect">
            <a:avLst>
              <a:gd name="adj" fmla="val 3240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86500" y="4283709"/>
            <a:ext cx="76200" cy="141115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15100" y="4398009"/>
            <a:ext cx="47625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518" dirty="0"/>
          </a:p>
        </p:txBody>
      </p:sp>
      <p:sp>
        <p:nvSpPr>
          <p:cNvPr id="16" name="Text 14"/>
          <p:cNvSpPr/>
          <p:nvPr/>
        </p:nvSpPr>
        <p:spPr>
          <a:xfrm>
            <a:off x="6515100" y="4734051"/>
            <a:ext cx="4762500" cy="80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2.1 removed it. So did MCP. Do not use it in new applications.</a:t>
            </a:r>
            <a:endParaRPr lang="en-US" sz="2076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easy mistakes, and how to avoid them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1668286"/>
            <a:ext cx="10820400" cy="2237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Hardcoding endpoints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instead of reading them out of the discovery document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code_challenge_method=plain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because the provider advertises it and it works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Reusing one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code_verifier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across requests — no error, no protection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Skipping the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check on the callback because "it worked"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4022866"/>
            <a:ext cx="10820400" cy="1709921"/>
          </a:xfrm>
          <a:prstGeom prst="roundRect">
            <a:avLst>
              <a:gd name="adj" fmla="val 2674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022866"/>
            <a:ext cx="76200" cy="1709921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137166"/>
            <a:ext cx="10363200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2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452" dirty="0"/>
          </a:p>
        </p:txBody>
      </p:sp>
      <p:sp>
        <p:nvSpPr>
          <p:cNvPr id="11" name="Text 9"/>
          <p:cNvSpPr/>
          <p:nvPr/>
        </p:nvSpPr>
        <p:spPr>
          <a:xfrm>
            <a:off x="914400" y="4460254"/>
            <a:ext cx="10363200" cy="11201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these produces a </a:t>
            </a:r>
            <a:r>
              <a:rPr lang="en-US" sz="198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working login</a:t>
            </a: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None of them produces a safe one. This is the delegation line from Week 1: the correctness oracle is not your compiler, it is a remote system with its own clock and its own operator.</a:t>
            </a:r>
            <a:endParaRPr lang="en-US" sz="198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W08·A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Delegation and the flow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Fill in the four roles for your own MCP server — and say who holds what</a:t>
            </a:r>
            <a:endParaRPr lang="en-US" sz="3528" dirty="0"/>
          </a:p>
        </p:txBody>
      </p:sp>
      <p:sp>
        <p:nvSpPr>
          <p:cNvPr id="10" name="Text 8"/>
          <p:cNvSpPr/>
          <p:nvPr/>
        </p:nvSpPr>
        <p:spPr>
          <a:xfrm>
            <a:off x="685800" y="3298448"/>
            <a:ext cx="1082040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1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MCP server is at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https://mcp.&lt;yourname&gt;.example/mcp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Who is the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owner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 server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the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 server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2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of them may hold a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secret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why can the others not?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3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attacker reads your browser history and finds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?code=…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What else do they need, and where does it live?</a:t>
            </a:r>
            <a:endParaRPr lang="en-US" sz="201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Authorization, specification 2026-07-28</a:t>
            </a:r>
            <a:endParaRPr lang="en-US" sz="1275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Tokens and claims — decoding is not validation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inside a token, who each claim is for, and the eight checks that stand between you and a forged one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450946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 have a token. </a:t>
            </a: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Having one and being able to trust one are different problems.</a:t>
            </a:r>
            <a:endParaRPr lang="en-US" sz="2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vocabulary before we inspect one</a:t>
            </a:r>
            <a:endParaRPr lang="en-US" sz="3276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Term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Plain meaning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JSON Web Token (JWT, "jot")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portable set of claims in JavaScript Object Notation (JSON)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Claim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field asserting something; decoding does not make it true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 / sub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Issuer / subject: who issued it / who it describes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Audience: the intended recipient, not the person holding it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 / nbf / iat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Expiration / not-before / issued-at, in Unix seconds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API / ID token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Application Programming Interface / identity token for the client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Why a JWT? A signed campus day pass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7767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7767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9197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20210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Useful across independent services. Not automatically better for a one-server student app: a revocable server-side session is often simpler.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266682"/>
            <a:ext cx="5219700" cy="337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2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issuer writes</a:t>
            </a:r>
            <a:endParaRPr lang="en-US" sz="1620" dirty="0"/>
          </a:p>
        </p:txBody>
      </p:sp>
      <p:sp>
        <p:nvSpPr>
          <p:cNvPr id="12" name="Text 10"/>
          <p:cNvSpPr/>
          <p:nvPr/>
        </p:nvSpPr>
        <p:spPr>
          <a:xfrm>
            <a:off x="685800" y="3686689"/>
            <a:ext cx="5219700" cy="2154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Subject: this student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Audience: this building, not every building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Scope: enter the study room, not the server room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Expiry: valid until a stated time</a:t>
            </a:r>
            <a:endParaRPr lang="en-US" sz="1728" dirty="0"/>
          </a:p>
        </p:txBody>
      </p:sp>
      <p:sp>
        <p:nvSpPr>
          <p:cNvPr id="13" name="Text 11"/>
          <p:cNvSpPr/>
          <p:nvPr/>
        </p:nvSpPr>
        <p:spPr>
          <a:xfrm>
            <a:off x="6286500" y="3266682"/>
            <a:ext cx="5219700" cy="3377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2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service can check</a:t>
            </a:r>
            <a:endParaRPr lang="en-US" sz="1620" dirty="0"/>
          </a:p>
        </p:txBody>
      </p:sp>
      <p:sp>
        <p:nvSpPr>
          <p:cNvPr id="14" name="Text 12"/>
          <p:cNvSpPr/>
          <p:nvPr/>
        </p:nvSpPr>
        <p:spPr>
          <a:xfrm>
            <a:off x="6286500" y="3686689"/>
            <a:ext cx="5219700" cy="21543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issuer signs the fields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service checks that signature locally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still checks the building, time and permission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need not phone the issuer on every request</a:t>
            </a:r>
            <a:endParaRPr lang="en-US" sz="1728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valid signature, wrong audience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85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3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client sends</a:t>
            </a:r>
            <a:endParaRPr lang="en-US" sz="1935" dirty="0"/>
          </a:p>
        </p:txBody>
      </p:sp>
      <p:sp>
        <p:nvSpPr>
          <p:cNvPr id="8" name="Text 6"/>
          <p:cNvSpPr/>
          <p:nvPr/>
        </p:nvSpPr>
        <p:spPr>
          <a:xfrm>
            <a:off x="685800" y="2900044"/>
            <a:ext cx="5219700" cy="24899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ID token signed by the expected provider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Issuer (</a:t>
            </a:r>
            <a:r>
              <a:rPr lang="en-US" sz="206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and expiration (</a:t>
            </a:r>
            <a:r>
              <a:rPr lang="en-US" sz="206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pass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</a:t>
            </a:r>
            <a:r>
              <a:rPr lang="en-US" sz="206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campuspulse-web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browser client</a:t>
            </a:r>
            <a:endParaRPr lang="en-US" sz="2064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8559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3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API decides</a:t>
            </a:r>
            <a:endParaRPr lang="en-US" sz="1935" dirty="0"/>
          </a:p>
        </p:txBody>
      </p:sp>
      <p:sp>
        <p:nvSpPr>
          <p:cNvPr id="10" name="Text 8"/>
          <p:cNvSpPr/>
          <p:nvPr/>
        </p:nvSpPr>
        <p:spPr>
          <a:xfrm>
            <a:off x="6286500" y="2900044"/>
            <a:ext cx="5219700" cy="2856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resource server expects </a:t>
            </a: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its own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audience, not the web client's ID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returns 401 before any incident data is read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Decoding explains the token; validation decides whether to trust it here</a:t>
            </a:r>
            <a:endParaRPr lang="en-US" sz="2064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tokens, three jobs</a:t>
            </a:r>
            <a:endParaRPr lang="en-US" sz="3696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68286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390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Access token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token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8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Refresh token</a:t>
                      </a:r>
                      <a:endParaRPr lang="en-US" sz="158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Answers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 this app do X?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signed in?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access token?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 names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API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client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by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client at sign-in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authorization server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61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Format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opaque or JWT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always JWT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usually opaque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751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Typical life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5–60 min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minutes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days–months, rotating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511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Never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put it in a URL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 it as an API credential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16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send it to the resource API</a:t>
                      </a:r>
                      <a:endParaRPr lang="en-US" sz="1716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9068, JWT Profile for OAuth Access Tokens</a:t>
            </a:r>
            <a:endParaRPr lang="en-US" sz="1275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JWT or opaque: where is the decision data?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71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4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JWT — self-contained</a:t>
            </a:r>
            <a:endParaRPr lang="en-US" sz="1845" dirty="0"/>
          </a:p>
        </p:txBody>
      </p:sp>
      <p:sp>
        <p:nvSpPr>
          <p:cNvPr id="8" name="Text 6"/>
          <p:cNvSpPr/>
          <p:nvPr/>
        </p:nvSpPr>
        <p:spPr>
          <a:xfrm>
            <a:off x="685800" y="2881791"/>
            <a:ext cx="5219700" cy="23783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with a cached JSON Web Key Set (JWKS)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computation; no issuer call on a cache hit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Claims stay fixed; signatures do not hide them</a:t>
            </a:r>
            <a:endParaRPr lang="en-US" sz="1968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719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4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Opaque — a database handle</a:t>
            </a:r>
            <a:endParaRPr lang="en-US" sz="1845" dirty="0"/>
          </a:p>
        </p:txBody>
      </p:sp>
      <p:sp>
        <p:nvSpPr>
          <p:cNvPr id="10" name="Text 8"/>
          <p:cNvSpPr/>
          <p:nvPr/>
        </p:nvSpPr>
        <p:spPr>
          <a:xfrm>
            <a:off x="6286500" y="2881791"/>
            <a:ext cx="5219700" cy="2790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 handle; permissions live in a server record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Introspection asks the issuer: active, and allowed what?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Disabling the record works at the next fresh check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Caching delays that revocation</a:t>
            </a:r>
            <a:endParaRPr lang="en-US" sz="1968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7662, Token Introspection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9068, JWT Profile for Access Tokens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Curity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Phantom Token pattern</a:t>
            </a:r>
            <a:endParaRPr lang="en-US" sz="1275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Alternatives: sessions and opaque tokens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Server-side session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872664"/>
            <a:ext cx="52197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Cookie sends a random session identifier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looks up the user, permissions and expiry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Delete the record to end the session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web app; replicas need shared state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Opaque OAuth access token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86500" y="2872664"/>
            <a:ext cx="52197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presents a random token string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looks up or introspects permissions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Revocation works at the next fresh check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Delegation; the state service must be available</a:t>
            </a:r>
            <a:endParaRPr lang="en-US" sz="192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Session Management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Token Introspection, RFC 7662</a:t>
            </a:r>
            <a:endParaRPr lang="en-US" sz="1275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Other tools solve different identity problems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Campus single sign-on</a:t>
            </a:r>
            <a:endParaRPr lang="en-US" sz="2070" dirty="0"/>
          </a:p>
        </p:txBody>
      </p:sp>
      <p:sp>
        <p:nvSpPr>
          <p:cNvPr id="8" name="Text 6"/>
          <p:cNvSpPr/>
          <p:nvPr/>
        </p:nvSpPr>
        <p:spPr>
          <a:xfrm>
            <a:off x="685800" y="2927425"/>
            <a:ext cx="5219700" cy="1616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SAML: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Security Assertion Markup Language. The provider sends signed </a:t>
            </a: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XML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(Extensible Markup Language).</a:t>
            </a:r>
            <a:endParaRPr lang="en-US" sz="2208" dirty="0"/>
          </a:p>
        </p:txBody>
      </p:sp>
      <p:sp>
        <p:nvSpPr>
          <p:cNvPr id="9" name="Text 7"/>
          <p:cNvSpPr/>
          <p:nvPr/>
        </p:nvSpPr>
        <p:spPr>
          <a:xfrm>
            <a:off x="685800" y="4667010"/>
            <a:ext cx="5219700" cy="1235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app validates the assertion, then creates a session. Not a drop-in MCP access token.</a:t>
            </a:r>
            <a:endParaRPr lang="en-US" sz="2208" dirty="0"/>
          </a:p>
        </p:txBody>
      </p:sp>
      <p:sp>
        <p:nvSpPr>
          <p:cNvPr id="10" name="Text 8"/>
          <p:cNvSpPr/>
          <p:nvPr/>
        </p:nvSpPr>
        <p:spPr>
          <a:xfrm>
            <a:off x="6286500" y="241615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Service access</a:t>
            </a:r>
            <a:endParaRPr lang="en-US" sz="2070" dirty="0"/>
          </a:p>
        </p:txBody>
      </p:sp>
      <p:sp>
        <p:nvSpPr>
          <p:cNvPr id="11" name="Text 9"/>
          <p:cNvSpPr/>
          <p:nvPr/>
        </p:nvSpPr>
        <p:spPr>
          <a:xfrm>
            <a:off x="6286500" y="2927425"/>
            <a:ext cx="5219700" cy="16169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key: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 issued secret identifying a calling service. The API checks the key's record and permissions.</a:t>
            </a:r>
            <a:endParaRPr lang="en-US" sz="2208" dirty="0"/>
          </a:p>
        </p:txBody>
      </p:sp>
      <p:sp>
        <p:nvSpPr>
          <p:cNvPr id="12" name="Text 10"/>
          <p:cNvSpPr/>
          <p:nvPr/>
        </p:nvSpPr>
        <p:spPr>
          <a:xfrm>
            <a:off x="6286500" y="4667010"/>
            <a:ext cx="5219700" cy="12355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Useful for service identity, not user sign-in or delegated consent. Protect and rotate the secret.</a:t>
            </a:r>
            <a:endParaRPr lang="en-US" sz="2208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cookie and a JWT are not competing formats</a:t>
            </a:r>
            <a:endParaRPr lang="en-US" sz="3780" dirty="0"/>
          </a:p>
        </p:txBody>
      </p:sp>
      <p:sp>
        <p:nvSpPr>
          <p:cNvPr id="7" name="Text 5"/>
          <p:cNvSpPr/>
          <p:nvPr/>
        </p:nvSpPr>
        <p:spPr>
          <a:xfrm>
            <a:off x="685800" y="2257974"/>
            <a:ext cx="10820400" cy="1833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to app: a </a:t>
            </a: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session-ID cookie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backend looks up the visit record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to API: a </a:t>
            </a: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JWT access token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API checks signature and permission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Char char="▪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cookie carries a value; a JWT defines its format. They can work together</a:t>
            </a:r>
            <a:endParaRPr lang="en-US" sz="2160" dirty="0"/>
          </a:p>
        </p:txBody>
      </p:sp>
      <p:sp>
        <p:nvSpPr>
          <p:cNvPr id="8" name="Shape 6"/>
          <p:cNvSpPr/>
          <p:nvPr/>
        </p:nvSpPr>
        <p:spPr>
          <a:xfrm>
            <a:off x="685800" y="4211361"/>
            <a:ext cx="10820400" cy="1007593"/>
          </a:xfrm>
          <a:prstGeom prst="roundRect">
            <a:avLst>
              <a:gd name="adj" fmla="val 5445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11361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423041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Course-content root - reuse Block A's installed demo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SHELL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4660941"/>
            <a:ext cx="10439400" cy="43228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9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samples/oidc-web-app run demo</a:t>
            </a:r>
            <a:endParaRPr lang="en-US" sz="189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277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How a signature protects readable claims</a:t>
            </a:r>
            <a:endParaRPr lang="en-US" sz="3528" dirty="0"/>
          </a:p>
        </p:txBody>
      </p:sp>
      <p:sp>
        <p:nvSpPr>
          <p:cNvPr id="7" name="Text 5"/>
          <p:cNvSpPr/>
          <p:nvPr/>
        </p:nvSpPr>
        <p:spPr>
          <a:xfrm>
            <a:off x="685800" y="1638175"/>
            <a:ext cx="10820400" cy="25621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 header and payload as base64url, a URL-safe text encoding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</a:t>
            </a:r>
            <a:r>
              <a:rPr lang="en-US" sz="201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encoded header + "." + encoded payload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issuer's private key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those exact bytes with the matching public key; it cannot mint tokens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even one claim: the old signature no longer verifies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Char char="▪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Then check issuer, audience, time and permission; a valid signature is not enough</a:t>
            </a:r>
            <a:endParaRPr lang="en-US" sz="2016" dirty="0"/>
          </a:p>
        </p:txBody>
      </p:sp>
      <p:sp>
        <p:nvSpPr>
          <p:cNvPr id="8" name="Shape 6"/>
          <p:cNvSpPr/>
          <p:nvPr/>
        </p:nvSpPr>
        <p:spPr>
          <a:xfrm>
            <a:off x="685800" y="4312338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12338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26638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1" name="Text 9"/>
          <p:cNvSpPr/>
          <p:nvPr/>
        </p:nvSpPr>
        <p:spPr>
          <a:xfrm>
            <a:off x="914400" y="4736772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RS256 format uses RSA (Rivest-Shamir-Adleman) signatures with SHA-256 (Secure Hash Algorithm, 256-bit). Never place secrets in readable claims.</a:t>
            </a:r>
            <a:endParaRPr lang="en-US" sz="1895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 Web Token, RFC 7519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JWT Best Current Practices, RFC 8725</a:t>
            </a:r>
            <a:endParaRPr lang="en-US" sz="1275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Three segments, and one pointer that matters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288737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303520"/>
            <a:ext cx="10820400" cy="6781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 starts with your configured issuer; kid selects a key only from that issuer's trusted key set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real access token, decoded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3008"/>
            <a:ext cx="10820400" cy="2945526"/>
          </a:xfrm>
          <a:prstGeom prst="roundRect">
            <a:avLst>
              <a:gd name="adj" fmla="val 186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30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validate-token.mjs --variant valid --decode-only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88"/>
            <a:ext cx="10439400" cy="23702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 {"alg":"RS256","typ":"at+jwt","kid":"..."}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 {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"iss": "http://127.0.0.1:9100",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"sub": "a4f1c0de-7c1b-4a2e-9f10-3d5c0b8e2a11",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"aud": "http://127.0.0.1:8930/mcp",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"exp": 1786824533, "iat": 1786823633,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"scope": "openid campuspulse.read",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"roles": ["viewer"]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4" dirty="0"/>
          </a:p>
        </p:txBody>
      </p:sp>
      <p:sp>
        <p:nvSpPr>
          <p:cNvPr id="11" name="Shape 9"/>
          <p:cNvSpPr/>
          <p:nvPr/>
        </p:nvSpPr>
        <p:spPr>
          <a:xfrm>
            <a:off x="685800" y="4657406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13314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57406"/>
            <a:ext cx="76200" cy="1256707"/>
          </a:xfrm>
          <a:prstGeom prst="rect">
            <a:avLst/>
          </a:prstGeom>
          <a:solidFill>
            <a:srgbClr val="93C5F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71706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93C5F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▸  NOTE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914400" y="5062409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</a:t>
            </a: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validate-token.mjs --variant valid --decode-only</a:t>
            </a: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the lab issuer. This abbreviated snapshot is expired; new tokens work locally and need redaction.</a:t>
            </a:r>
            <a:endParaRPr lang="en-US" sz="176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claims that decide a request</a:t>
            </a:r>
            <a:endParaRPr lang="en-US" sz="3276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93008"/>
          <a:ext cx="10820400" cy="914400"/>
        </p:xfrm>
        <a:graphic>
          <a:graphicData uri="http://schemas.openxmlformats.org/drawingml/2006/table">
            <a:tbl>
              <a:tblPr/>
              <a:tblGrid>
                <a:gridCol w="2705100"/>
                <a:gridCol w="2705100"/>
                <a:gridCol w="2705100"/>
                <a:gridCol w="2705100"/>
              </a:tblGrid>
              <a:tr h="40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Claim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Means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Read by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4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If you skip it</a:t>
                      </a:r>
                      <a:endParaRPr lang="en-US" sz="1404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minted it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issuer's token works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subject id; key by (iss, sub)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app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users from different issuers collide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it is for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API's token works here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 nbf iat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expires / active after / issued at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stale or future tokens work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283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app may do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resource server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authorization at all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852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the user may do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your app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2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 and user rights conflated</a:t>
                      </a:r>
                      <a:endParaRPr lang="en-US" sz="152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7519 §4.1, Registered Claim Names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Descope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nOAuth: an unverified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claim enabled account takeover</a:t>
            </a:r>
            <a:endParaRPr lang="en-US" sz="127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idea the rest of the quarter depends 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Decoding is not validation</a:t>
            </a:r>
            <a:endParaRPr lang="en-US" sz="4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Decoding shows claims, not truth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decoding proves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234184"/>
            <a:ext cx="521970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string was base64url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parsed as JSON</a:t>
            </a:r>
            <a:endParaRPr lang="en-US" sz="1920" dirty="0"/>
          </a:p>
        </p:txBody>
      </p:sp>
      <p:sp>
        <p:nvSpPr>
          <p:cNvPr id="9" name="Text 7"/>
          <p:cNvSpPr/>
          <p:nvPr/>
        </p:nvSpPr>
        <p:spPr>
          <a:xfrm>
            <a:off x="685800" y="3236976"/>
            <a:ext cx="5219700" cy="423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is the complete list.</a:t>
            </a:r>
            <a:endParaRPr lang="en-US" sz="1920" dirty="0"/>
          </a:p>
        </p:txBody>
      </p:sp>
      <p:sp>
        <p:nvSpPr>
          <p:cNvPr id="10" name="Shape 8"/>
          <p:cNvSpPr/>
          <p:nvPr/>
        </p:nvSpPr>
        <p:spPr>
          <a:xfrm>
            <a:off x="685800" y="3766718"/>
            <a:ext cx="5219700" cy="1278770"/>
          </a:xfrm>
          <a:prstGeom prst="roundRect">
            <a:avLst>
              <a:gd name="adj" fmla="val 3575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766718"/>
            <a:ext cx="76200" cy="1278770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881018"/>
            <a:ext cx="47625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914400" y="4178198"/>
            <a:ext cx="47625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Decoding is a display operation, not a security operation.</a:t>
            </a:r>
            <a:endParaRPr lang="en-US" sz="1805" dirty="0"/>
          </a:p>
        </p:txBody>
      </p:sp>
      <p:sp>
        <p:nvSpPr>
          <p:cNvPr id="14" name="Text 12"/>
          <p:cNvSpPr/>
          <p:nvPr/>
        </p:nvSpPr>
        <p:spPr>
          <a:xfrm>
            <a:off x="6286500" y="1777670"/>
            <a:ext cx="5219700" cy="36507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80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validation proves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86500" y="2234184"/>
            <a:ext cx="5219700" cy="3651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1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on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allow-list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2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resolves in the issuer's JWKS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3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verifies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4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matches exactly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5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names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6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 not passed, allowing bounded clock drift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7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nbf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</a:t>
            </a: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iat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are not in the future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Font typeface="+mj-lt"/>
              <a:buAutoNum type="arabicPeriod" startAt="8"/>
            </a:pPr>
            <a:r>
              <a:rPr lang="en-US" sz="192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covers this operation</a:t>
            </a:r>
            <a:endParaRPr lang="en-US" sz="192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Follow along: decode, then forge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921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 LTS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course root =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master, or the student download root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 local lab issuer — it mints and serves the JWKS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decode, forge, check. Ctrl+C in Terminal A after</a:t>
            </a:r>
            <a:endParaRPr lang="en-US" sz="2112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11801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 token: eight PASS, then ACCEPT 200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Forged token: signature check fails</a:t>
            </a:r>
            <a:endParaRPr lang="en-US" sz="1824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4396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negative-battery fallback.</a:t>
            </a:r>
            <a:endParaRPr lang="en-US" sz="2016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3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hand-written validator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All server/client commands and expected exit codes</a:t>
            </a:r>
            <a:endParaRPr lang="en-US" sz="1275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A: start the lab issuer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315974"/>
          </a:xfrm>
          <a:prstGeom prst="roundRect">
            <a:avLst>
              <a:gd name="adj" fmla="val 416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Terminal A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74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authz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26994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26994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41294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703244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the issuer, JWKS URL, and active key ID on port 9100. Reuse your issuer if already running.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start the lab issuer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315974"/>
          </a:xfrm>
          <a:prstGeom prst="roundRect">
            <a:avLst>
              <a:gd name="adj" fmla="val 416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Terminal A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74066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authz-server.mjs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226994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226994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341294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3703244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the issuer, JWKS URL, and active key ID on port 9100. Reuse your issuer if already running.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lab authorization server</a:t>
            </a:r>
            <a:endParaRPr lang="en-US" sz="1275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decode, then validate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a fresh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valid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--decode-only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valid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--scope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campuspulse.read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newly minted tokens of the same variant. Only validation makes a security claim; decoding just displays fields.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hand-written validator</a:t>
            </a:r>
            <a:endParaRPr lang="en-US" sz="1275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decode, then validate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a fresh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validate-token.mjs --variant valid --decode-only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validate-token.mjs --variant valid --scope campuspulse.read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newly minted tokens of the same variant. Only validation makes a security claim; decoding just displays fields.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hand-written validator</a:t>
            </a:r>
            <a:endParaRPr lang="en-US" sz="1275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17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Change one claim, keep the signature</a:t>
            </a:r>
            <a:endParaRPr lang="en-US" sz="4116" dirty="0"/>
          </a:p>
        </p:txBody>
      </p:sp>
      <p:sp>
        <p:nvSpPr>
          <p:cNvPr id="7" name="Shape 5"/>
          <p:cNvSpPr/>
          <p:nvPr/>
        </p:nvSpPr>
        <p:spPr>
          <a:xfrm>
            <a:off x="685800" y="1743564"/>
            <a:ext cx="10820400" cy="1939229"/>
          </a:xfrm>
          <a:prstGeom prst="roundRect">
            <a:avLst>
              <a:gd name="adj" fmla="val 282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4356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6261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93144"/>
            <a:ext cx="10439400" cy="13639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tamper.mjs                       </a:t>
            </a:r>
            <a:r>
              <a:rPr lang="en-US" sz="176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writes out\forged.txt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--token-file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out\forged.txt `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--scope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campuspulse.incident.write</a:t>
            </a:r>
            <a:endParaRPr lang="en-US" sz="1764" dirty="0"/>
          </a:p>
        </p:txBody>
      </p:sp>
      <p:sp>
        <p:nvSpPr>
          <p:cNvPr id="11" name="Shape 9"/>
          <p:cNvSpPr/>
          <p:nvPr/>
        </p:nvSpPr>
        <p:spPr>
          <a:xfrm>
            <a:off x="685800" y="3832145"/>
            <a:ext cx="10820400" cy="1477339"/>
          </a:xfrm>
          <a:prstGeom prst="roundRect">
            <a:avLst>
              <a:gd name="adj" fmla="val 309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32145"/>
            <a:ext cx="76200" cy="147733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46445"/>
            <a:ext cx="10363200" cy="317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1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17" dirty="0"/>
          </a:p>
        </p:txBody>
      </p:sp>
      <p:sp>
        <p:nvSpPr>
          <p:cNvPr id="14" name="Text 12"/>
          <p:cNvSpPr/>
          <p:nvPr/>
        </p:nvSpPr>
        <p:spPr>
          <a:xfrm>
            <a:off x="914400" y="4301918"/>
            <a:ext cx="10363200" cy="855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1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rewrites </a:t>
            </a:r>
            <a:r>
              <a:rPr lang="en-US" sz="221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r>
              <a:rPr lang="en-US" sz="221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r>
              <a:rPr lang="en-US" sz="221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["operator"]</a:t>
            </a:r>
            <a:r>
              <a:rPr lang="en-US" sz="221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adds the write scope, and touches nothing else.</a:t>
            </a:r>
            <a:endParaRPr lang="en-US" sz="2211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tamper.mjs</a:t>
            </a:r>
            <a:endParaRPr lang="en-US" sz="1275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change one claim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tamper.mjs                  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writes out/forged.txt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validate-token.mjs --token-file out/forged.txt \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--scope campuspulse.incident.write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rewrites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["operator"]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adds the write scope, and touches nothing else.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tamper.mjs</a:t>
            </a:r>
            <a:endParaRPr lang="en-US" sz="1275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Eight checks before acceptance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3008"/>
            <a:ext cx="10820400" cy="2945526"/>
          </a:xfrm>
          <a:prstGeom prst="roundRect">
            <a:avLst>
              <a:gd name="adj" fmla="val 186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30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validate-token.mjs --variant valid --scope campuspulse.read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88"/>
            <a:ext cx="10439400" cy="23702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alg is on the allow-list           allowed=RS256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kid resolves in JWKS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signature verifies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iss matches configured issuer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aud contains this resource server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exp is in the future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nbf/iat are not in the future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scope includes campuspulse.read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 200</a:t>
            </a:r>
            <a:endParaRPr lang="en-US" sz="1404" dirty="0"/>
          </a:p>
        </p:txBody>
      </p:sp>
      <p:sp>
        <p:nvSpPr>
          <p:cNvPr id="11" name="Shape 9"/>
          <p:cNvSpPr/>
          <p:nvPr/>
        </p:nvSpPr>
        <p:spPr>
          <a:xfrm>
            <a:off x="685800" y="4657406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57406"/>
            <a:ext cx="76200" cy="125670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71706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914400" y="5062409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After parsing: seven credential checks, then the permission check. The teaching validator displays every check, even after a failure.</a:t>
            </a:r>
            <a:endParaRPr lang="en-US" sz="176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perfectly valid token, correctly rejected</a:t>
            </a:r>
            <a:endParaRPr lang="en-US" sz="3528" dirty="0"/>
          </a:p>
        </p:txBody>
      </p:sp>
      <p:sp>
        <p:nvSpPr>
          <p:cNvPr id="7" name="Shape 5"/>
          <p:cNvSpPr/>
          <p:nvPr/>
        </p:nvSpPr>
        <p:spPr>
          <a:xfrm>
            <a:off x="685800" y="2174498"/>
            <a:ext cx="10820400" cy="2302794"/>
          </a:xfrm>
          <a:prstGeom prst="roundRect">
            <a:avLst>
              <a:gd name="adj" fmla="val 238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17449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19354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validate-token.mjs --variant wrong-audience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24078"/>
            <a:ext cx="10439400" cy="172748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signature verifies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iss matches configured issuer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  aud contains this resource server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token:    https://grades.campuspulse.example/api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expected: http://127.0.0.1:8930/mcp</a:t>
            </a:r>
            <a:endParaRPr lang="en-US" sz="1512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1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 401: audience mismatch</a:t>
            </a:r>
            <a:endParaRPr lang="en-US" sz="1512" dirty="0"/>
          </a:p>
        </p:txBody>
      </p:sp>
      <p:sp>
        <p:nvSpPr>
          <p:cNvPr id="11" name="Shape 9"/>
          <p:cNvSpPr/>
          <p:nvPr/>
        </p:nvSpPr>
        <p:spPr>
          <a:xfrm>
            <a:off x="685800" y="4605309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05309"/>
            <a:ext cx="76200" cy="1322897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19609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386" dirty="0"/>
          </a:p>
        </p:txBody>
      </p:sp>
      <p:sp>
        <p:nvSpPr>
          <p:cNvPr id="14" name="Text 12"/>
          <p:cNvSpPr/>
          <p:nvPr/>
        </p:nvSpPr>
        <p:spPr>
          <a:xfrm>
            <a:off x="914400" y="5029743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Nothing was forged. This lab token is signed correctly, but for a different service. A genuine library pass is not a server-room pass.</a:t>
            </a:r>
            <a:endParaRPr lang="en-US" sz="1895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Expired token or unknown key?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711806"/>
          </a:xfrm>
          <a:prstGeom prst="roundRect">
            <a:avLst>
              <a:gd name="adj" fmla="val 202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more runs of the same validator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2136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 expired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PASS  signature verifies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FAIL  exp is in the future    delta=-2400s, skew=60s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REJECT 401: token expired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 stale-kid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FAIL  kid resolves in JWKS    kid=retired-2025-key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REJECT 401: unknown signing key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4532307"/>
            <a:ext cx="10820400" cy="1389086"/>
          </a:xfrm>
          <a:prstGeom prst="roundRect">
            <a:avLst>
              <a:gd name="adj" fmla="val 3291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32307"/>
            <a:ext cx="76200" cy="138908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46607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976172"/>
            <a:ext cx="10363200" cy="792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Both are 401. Logs distinguish expired credentials from an unknown signing key; an unknown key can signal a stale cache or an untrusted token.</a:t>
            </a:r>
            <a:endParaRPr lang="en-US" sz="203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An ID token presented to an API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711806"/>
          </a:xfrm>
          <a:prstGeom prst="roundRect">
            <a:avLst>
              <a:gd name="adj" fmla="val 202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validate-token.mjs --variant id-token --scope campuspulse.read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213649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  {"alg":"RS256","typ":"JWT","kid":"..."}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 { "aud":"campuspulse-web", "nonce":"n-0S6_WzA2Mj", ... }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  signature verifies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  aud contains this resource server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The audience is the CLIENT, not the API.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  scope includes campuspulse.read    granted=[]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REJECT 401: audience mismatch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4532307"/>
            <a:ext cx="10820400" cy="1389086"/>
          </a:xfrm>
          <a:prstGeom prst="roundRect">
            <a:avLst>
              <a:gd name="adj" fmla="val 3291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32307"/>
            <a:ext cx="76200" cy="1389086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46607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976172"/>
            <a:ext cx="10363200" cy="792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genuine identity token is </a:t>
            </a:r>
            <a:r>
              <a:rPr lang="en-US" sz="20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an API credential</a:t>
            </a: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Audience and token purpose decide that, not whether the payload looks like a user profile.</a:t>
            </a:r>
            <a:endParaRPr lang="en-US" sz="203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negative battery, in one loop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3588258"/>
          </a:xfrm>
          <a:prstGeom prst="roundRect">
            <a:avLst>
              <a:gd name="adj" fmla="val 152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301294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'expired'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'wrong-issuer'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'wrong-audience'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'no-scope'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'id-token'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'stale-kid'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 {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"===== 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====="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node validate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-token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--variant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--scope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campuspulse.read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.\transcripts\part3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-negatives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fallback capture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(</a:t>
            </a: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Test-Path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.\out\forged.txt) {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Remove-Item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-LiteralPath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.\out\forged.txt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Ctrl+C in Terminal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negative battery</a:t>
            </a:r>
            <a:endParaRPr lang="en-US" sz="1275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the negative battery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2939034"/>
          </a:xfrm>
          <a:prstGeom prst="roundRect">
            <a:avLst>
              <a:gd name="adj" fmla="val 1867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Terminal B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236372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v </a:t>
            </a: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expired wrong-issuer wrong-audience \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no-scope id-token stale-kid; </a:t>
            </a: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'===== %s =====\n'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node validate-token.mjs --variant 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800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$v</a:t>
            </a:r>
            <a:r>
              <a:rPr lang="en-US" sz="18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--scope campuspulse.read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-n 60 ./transcripts/part3-negatives.txt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fallback capture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rm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-f ./out/forged.txt                      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cleanup; Ctrl+C in 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negative battery</a:t>
            </a:r>
            <a:endParaRPr lang="en-US" sz="1275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916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94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Which check fired first</a:t>
            </a:r>
            <a:endParaRPr lang="en-US" sz="3948" dirty="0"/>
          </a:p>
        </p:txBody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13453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5724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Variant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failing check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92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692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expired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 is in the future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90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wrong-issuer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iss matches configured issuer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wrong-audience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 contains this resource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79067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no-scope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 includes the required one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id-token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aud contains this resource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8106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stale-kid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kid resolves in JWKS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33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833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6750 §3, the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WWW-Authenticate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challenge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negative battery</a:t>
            </a:r>
            <a:endParaRPr lang="en-US" sz="1275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When the attacker picks </a:t>
            </a:r>
            <a:r>
              <a:rPr lang="en-US" sz="42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alg: none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330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header</a:t>
            </a:r>
            <a:endParaRPr lang="en-US" sz="1575" dirty="0"/>
          </a:p>
        </p:txBody>
      </p:sp>
      <p:sp>
        <p:nvSpPr>
          <p:cNvPr id="8" name="Shape 6"/>
          <p:cNvSpPr/>
          <p:nvPr/>
        </p:nvSpPr>
        <p:spPr>
          <a:xfrm>
            <a:off x="685800" y="2188550"/>
            <a:ext cx="5219700" cy="1727149"/>
          </a:xfrm>
          <a:prstGeom prst="roundRect">
            <a:avLst>
              <a:gd name="adj" fmla="val 3177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88550"/>
            <a:ext cx="52197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2207600"/>
            <a:ext cx="49149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JSON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2638130"/>
            <a:ext cx="4838700" cy="115183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7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7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7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"alg"</a:t>
            </a: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7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7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"none"</a:t>
            </a: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47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7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7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"typ"</a:t>
            </a: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7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7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"JWT"</a:t>
            </a:r>
            <a:endParaRPr lang="en-US" sz="147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70" dirty="0">
                <a:solidFill>
                  <a:srgbClr val="B6CCD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70" dirty="0"/>
          </a:p>
        </p:txBody>
      </p:sp>
      <p:sp>
        <p:nvSpPr>
          <p:cNvPr id="12" name="Text 10"/>
          <p:cNvSpPr/>
          <p:nvPr/>
        </p:nvSpPr>
        <p:spPr>
          <a:xfrm>
            <a:off x="6286500" y="1777670"/>
            <a:ext cx="5219700" cy="3308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57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Failure mode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6286500" y="2188550"/>
            <a:ext cx="5219700" cy="11475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Once treated as "verified with no key"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Payload fully attacker-controlled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signature to check</a:t>
            </a:r>
            <a:endParaRPr lang="en-US" sz="1680" dirty="0"/>
          </a:p>
        </p:txBody>
      </p:sp>
      <p:sp>
        <p:nvSpPr>
          <p:cNvPr id="14" name="Shape 12"/>
          <p:cNvSpPr/>
          <p:nvPr/>
        </p:nvSpPr>
        <p:spPr>
          <a:xfrm>
            <a:off x="6286500" y="3429467"/>
            <a:ext cx="5219700" cy="1986732"/>
          </a:xfrm>
          <a:prstGeom prst="roundRect">
            <a:avLst>
              <a:gd name="adj" fmla="val 230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86500" y="3429467"/>
            <a:ext cx="76200" cy="1986732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15100" y="3543767"/>
            <a:ext cx="47625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15100" y="3808562"/>
            <a:ext cx="4762500" cy="14552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token must not choose how it is verified. Run the local regression examples with </a:t>
            </a:r>
            <a:r>
              <a:rPr lang="en-US" sz="157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--test identity.test.mjs</a:t>
            </a: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from </a:t>
            </a:r>
            <a:r>
              <a:rPr lang="en-US" sz="1579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weeks/week08/samples</a:t>
            </a: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they start and stop their own servers.</a:t>
            </a:r>
            <a:endParaRPr lang="en-US" sz="1579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Auth0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Critical vulnerabilities in JSON Web Token libraries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JSON Web Token Cheat Sheet</a:t>
            </a:r>
            <a:endParaRPr lang="en-US" sz="1275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 public key is not a shared secret</a:t>
            </a:r>
            <a:endParaRPr lang="en-US" sz="3864" dirty="0"/>
          </a:p>
        </p:txBody>
      </p:sp>
      <p:sp>
        <p:nvSpPr>
          <p:cNvPr id="7" name="Text 5"/>
          <p:cNvSpPr/>
          <p:nvPr/>
        </p:nvSpPr>
        <p:spPr>
          <a:xfrm>
            <a:off x="685800" y="1698397"/>
            <a:ext cx="10820400" cy="2797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HMAC: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Hash-based Message Authentication Code; one shared secret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HS256 uses HMAC with SHA-256; RS256 uses a private/public key pair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bug: verify an HS256 token using the published RSA public key as a secret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attacker knows that "secret" and can forge tokens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Fix: allow only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algorithms: ['RS256']</a:t>
            </a: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this issuer</a:t>
            </a:r>
            <a:endParaRPr lang="en-US" sz="2208" dirty="0"/>
          </a:p>
        </p:txBody>
      </p:sp>
      <p:sp>
        <p:nvSpPr>
          <p:cNvPr id="8" name="Shape 6"/>
          <p:cNvSpPr/>
          <p:nvPr/>
        </p:nvSpPr>
        <p:spPr>
          <a:xfrm>
            <a:off x="685800" y="4618534"/>
            <a:ext cx="10820400" cy="1052666"/>
          </a:xfrm>
          <a:prstGeom prst="roundRect">
            <a:avLst>
              <a:gd name="adj" fmla="val 4343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618534"/>
            <a:ext cx="76200" cy="1052666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732834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518" dirty="0"/>
          </a:p>
        </p:txBody>
      </p:sp>
      <p:sp>
        <p:nvSpPr>
          <p:cNvPr id="11" name="Text 9"/>
          <p:cNvSpPr/>
          <p:nvPr/>
        </p:nvSpPr>
        <p:spPr>
          <a:xfrm>
            <a:off x="914400" y="5068876"/>
            <a:ext cx="10363200" cy="449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picks only the key; never the algorithm.</a:t>
            </a:r>
            <a:endParaRPr lang="en-US" sz="2076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NIST NVD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CVE-2015-9235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(RS→HS confusion)</a:t>
            </a:r>
            <a:endParaRPr lang="en-US" sz="1275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533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9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your validator must not do</a:t>
            </a:r>
            <a:endParaRPr lang="en-US" sz="3696" dirty="0"/>
          </a:p>
        </p:txBody>
      </p:sp>
      <p:sp>
        <p:nvSpPr>
          <p:cNvPr id="7" name="Text 5"/>
          <p:cNvSpPr/>
          <p:nvPr/>
        </p:nvSpPr>
        <p:spPr>
          <a:xfrm>
            <a:off x="685800" y="1668286"/>
            <a:ext cx="10820400" cy="274685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trust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header.alg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allow-list the algorithms in your config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fetch a key from a URL named inside the token (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jku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x5u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select a JWKS key by array index — select by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compare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normalisation —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string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per RFC 9207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treat a missing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"must be for me"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set clock skew above ~60 seconds to make a flaky test pass</a:t>
            </a:r>
            <a:endParaRPr lang="en-US" sz="2112" dirty="0"/>
          </a:p>
        </p:txBody>
      </p:sp>
      <p:sp>
        <p:nvSpPr>
          <p:cNvPr id="8" name="Shape 6"/>
          <p:cNvSpPr/>
          <p:nvPr/>
        </p:nvSpPr>
        <p:spPr>
          <a:xfrm>
            <a:off x="685800" y="4532492"/>
            <a:ext cx="10820400" cy="1367023"/>
          </a:xfrm>
          <a:prstGeom prst="roundRect">
            <a:avLst>
              <a:gd name="adj" fmla="val 3344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32492"/>
            <a:ext cx="76200" cy="1367023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46792"/>
            <a:ext cx="10363200" cy="2849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2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452" dirty="0"/>
          </a:p>
        </p:txBody>
      </p:sp>
      <p:sp>
        <p:nvSpPr>
          <p:cNvPr id="11" name="Text 9"/>
          <p:cNvSpPr/>
          <p:nvPr/>
        </p:nvSpPr>
        <p:spPr>
          <a:xfrm>
            <a:off x="914400" y="4969880"/>
            <a:ext cx="10363200" cy="7772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one of these makes tokens work. Several of them make </a:t>
            </a:r>
            <a:r>
              <a:rPr lang="en-US" sz="1985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forged</a:t>
            </a:r>
            <a:r>
              <a:rPr lang="en-US" sz="198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tokens work too, and none of them produce an error message.</a:t>
            </a:r>
            <a:endParaRPr lang="en-US" sz="1985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4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actually write in production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1623119"/>
            <a:ext cx="10820400" cy="2565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a maintained library; this course's Node reference uses </a:t>
            </a: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jose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it with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issuer,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audience,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algorithm list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Cache keys with a time to live (TTL); rate-limit refreshes on unknown </a:t>
            </a: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kid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Return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authentication failures,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403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authorization failures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 the </a:t>
            </a: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check name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token identifier (</a:t>
            </a:r>
            <a:r>
              <a:rPr lang="en-US" sz="196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jti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 — never the token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Sender binding can require a key too; it is separate from choosing JWT or opaque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4298273"/>
            <a:ext cx="10820400" cy="1300833"/>
          </a:xfrm>
          <a:prstGeom prst="roundRect">
            <a:avLst>
              <a:gd name="adj" fmla="val 351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98273"/>
            <a:ext cx="76200" cy="130083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412573"/>
            <a:ext cx="10363200" cy="265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3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53" dirty="0"/>
          </a:p>
        </p:txBody>
      </p:sp>
      <p:sp>
        <p:nvSpPr>
          <p:cNvPr id="11" name="Text 9"/>
          <p:cNvSpPr/>
          <p:nvPr/>
        </p:nvSpPr>
        <p:spPr>
          <a:xfrm>
            <a:off x="914400" y="4716230"/>
            <a:ext cx="10363200" cy="730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the hand-written validator for learning. Use the maintained-library browser/server integration for your application.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6750 §3, the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WWW-Authenticate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challenge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9449, DPoP — sender-constrained tokens</a:t>
            </a:r>
            <a:endParaRPr lang="en-US" sz="1275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Beyond bearer: require the caller's key too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2416150"/>
            <a:ext cx="10820400" cy="1322897"/>
          </a:xfrm>
          <a:prstGeom prst="roundRect">
            <a:avLst>
              <a:gd name="adj" fmla="val 345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16150"/>
            <a:ext cx="76200" cy="132289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30450"/>
            <a:ext cx="10363200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86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86" dirty="0"/>
          </a:p>
        </p:txBody>
      </p:sp>
      <p:sp>
        <p:nvSpPr>
          <p:cNvPr id="10" name="Text 8"/>
          <p:cNvSpPr/>
          <p:nvPr/>
        </p:nvSpPr>
        <p:spPr>
          <a:xfrm>
            <a:off x="914400" y="2840584"/>
            <a:ext cx="10363200" cy="746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9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constrain who may present a token. Neither replaces JWT or opaque formats. Conceptual extension, not an additional classroom demo.</a:t>
            </a:r>
            <a:endParaRPr lang="en-US" sz="1895" dirty="0"/>
          </a:p>
        </p:txBody>
      </p:sp>
      <p:sp>
        <p:nvSpPr>
          <p:cNvPr id="11" name="Text 9"/>
          <p:cNvSpPr/>
          <p:nvPr/>
        </p:nvSpPr>
        <p:spPr>
          <a:xfrm>
            <a:off x="685800" y="3905162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DPoP</a:t>
            </a:r>
            <a:endParaRPr lang="en-US" sz="1665" dirty="0"/>
          </a:p>
        </p:txBody>
      </p:sp>
      <p:sp>
        <p:nvSpPr>
          <p:cNvPr id="12" name="Text 10"/>
          <p:cNvSpPr/>
          <p:nvPr/>
        </p:nvSpPr>
        <p:spPr>
          <a:xfrm>
            <a:off x="685800" y="4334296"/>
            <a:ext cx="5219700" cy="1318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Demonstrating Proof of Possession.</a:t>
            </a: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client signs a proof for each request. A token bound to that key cannot be used with the token alone.</a:t>
            </a:r>
            <a:endParaRPr lang="en-US" sz="1776" dirty="0"/>
          </a:p>
        </p:txBody>
      </p:sp>
      <p:sp>
        <p:nvSpPr>
          <p:cNvPr id="13" name="Text 11"/>
          <p:cNvSpPr/>
          <p:nvPr/>
        </p:nvSpPr>
        <p:spPr>
          <a:xfrm>
            <a:off x="6286500" y="3905162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mTLS</a:t>
            </a:r>
            <a:endParaRPr lang="en-US" sz="1665" dirty="0"/>
          </a:p>
        </p:txBody>
      </p:sp>
      <p:sp>
        <p:nvSpPr>
          <p:cNvPr id="14" name="Text 12"/>
          <p:cNvSpPr/>
          <p:nvPr/>
        </p:nvSpPr>
        <p:spPr>
          <a:xfrm>
            <a:off x="6286500" y="4334296"/>
            <a:ext cx="5219700" cy="13184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Mutual Transport Layer Security.</a:t>
            </a: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client authenticates with a certificate during the encrypted connection. The resource enforces the token's certificate binding.</a:t>
            </a:r>
            <a:endParaRPr lang="en-US" sz="1776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W08·B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Claims and validation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(4 min) → cold call (4 min) → debrief (2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24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Four tokens arrive at your MCP server. Which status, and which check decided?</a:t>
            </a:r>
            <a:endParaRPr lang="en-US" sz="3780" dirty="0"/>
          </a:p>
        </p:txBody>
      </p:sp>
      <p:sp>
        <p:nvSpPr>
          <p:cNvPr id="10" name="Text 8"/>
          <p:cNvSpPr/>
          <p:nvPr/>
        </p:nvSpPr>
        <p:spPr>
          <a:xfrm>
            <a:off x="685800" y="3381924"/>
            <a:ext cx="10820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Font typeface="+mj-lt"/>
              <a:buAutoNum type="arabicPeriod" startAt="1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valid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correct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your </a:t>
            </a:r>
            <a:r>
              <a:rPr lang="en-US" sz="21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API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12 min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Font typeface="+mj-lt"/>
              <a:buAutoNum type="arabicPeriod" startAt="2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valid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correct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=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openid profile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no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campuspulse.*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Font typeface="+mj-lt"/>
              <a:buAutoNum type="arabicPeriod" startAt="3"/>
            </a:pP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alg: none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payload says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"roles":["operator"]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no signature segment</a:t>
            </a:r>
            <a:endParaRPr lang="en-US" sz="2160" dirty="0"/>
          </a:p>
          <a:p>
            <a:pPr algn="l" marL="342900" indent="-342900">
              <a:lnSpc>
                <a:spcPct val="105263"/>
              </a:lnSpc>
              <a:spcAft>
                <a:spcPts val="540"/>
              </a:spcAft>
              <a:buSzPct val="100000"/>
              <a:buFont typeface="+mj-lt"/>
              <a:buAutoNum type="arabicPeriod" startAt="4"/>
            </a:pP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Signature valid · everything correct · </a:t>
            </a:r>
            <a:r>
              <a:rPr lang="en-US" sz="21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21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was 90 seconds ago, skew is 60s</a:t>
            </a:r>
            <a:endParaRPr lang="en-US" sz="216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Sessions, authorization decisions, and MCP auth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397100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token lives, where the decision belongs, and what OAuth looks like in front of the server you built last week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3450946"/>
            <a:ext cx="10820400" cy="920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B ended with a token you can trust. </a:t>
            </a: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Now: where does it live, and who decides what it may do?</a:t>
            </a:r>
            <a:endParaRPr lang="en-US" sz="24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browser-session vocabulary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7767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Application pieces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685800" y="2270691"/>
            <a:ext cx="5219700" cy="36722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SPA: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Single-Page Application; browser JavaScript renders the interface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BFF: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Backend-for-Frontend; a server handling identity and API calls for the browser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Session / cookie: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server's visit record / browser-stored value sent with requests</a:t>
            </a:r>
            <a:endParaRPr lang="en-US" sz="2112" dirty="0"/>
          </a:p>
        </p:txBody>
      </p:sp>
      <p:sp>
        <p:nvSpPr>
          <p:cNvPr id="9" name="Text 7"/>
          <p:cNvSpPr/>
          <p:nvPr/>
        </p:nvSpPr>
        <p:spPr>
          <a:xfrm>
            <a:off x="6286500" y="1777670"/>
            <a:ext cx="5219700" cy="392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8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Boundaries to protect</a:t>
            </a:r>
            <a:endParaRPr lang="en-US" sz="1980" dirty="0"/>
          </a:p>
        </p:txBody>
      </p:sp>
      <p:sp>
        <p:nvSpPr>
          <p:cNvPr id="10" name="Text 8"/>
          <p:cNvSpPr/>
          <p:nvPr/>
        </p:nvSpPr>
        <p:spPr>
          <a:xfrm>
            <a:off x="6286500" y="2270691"/>
            <a:ext cx="5219700" cy="2921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Cross-Site Scripting; unwanted code running in your page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CSRF: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Cross-Site Request Forgery; another site inducing a request with your cookies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Char char="▪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/ AS: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Model Context Protocol / authorization server</a:t>
            </a:r>
            <a:endParaRPr lang="en-US" sz="2112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Fictional CampusPulse case: a visible tool can still be denied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Maya is a viewer</a:t>
            </a:r>
            <a:endParaRPr lang="en-US" sz="2070" dirty="0"/>
          </a:p>
        </p:txBody>
      </p:sp>
      <p:sp>
        <p:nvSpPr>
          <p:cNvPr id="8" name="Text 6"/>
          <p:cNvSpPr/>
          <p:nvPr/>
        </p:nvSpPr>
        <p:spPr>
          <a:xfrm>
            <a:off x="685800" y="2927425"/>
            <a:ext cx="5219700" cy="26572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Her client has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campuspulse.read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host can still discover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post_incident_update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model chooses that tool after she asks for a summary</a:t>
            </a:r>
            <a:endParaRPr lang="en-US" sz="2208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40611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070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server owns the decision</a:t>
            </a:r>
            <a:endParaRPr lang="en-US" sz="2070" dirty="0"/>
          </a:p>
        </p:txBody>
      </p:sp>
      <p:sp>
        <p:nvSpPr>
          <p:cNvPr id="10" name="Text 8"/>
          <p:cNvSpPr/>
          <p:nvPr/>
        </p:nvSpPr>
        <p:spPr>
          <a:xfrm>
            <a:off x="6286500" y="2927425"/>
            <a:ext cx="5219700" cy="30498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scope is </a:t>
            </a:r>
            <a:r>
              <a:rPr lang="en-US" sz="220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campuspulse.incident.write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Object policy also requires the operator role</a:t>
            </a:r>
            <a:endParaRPr lang="en-US" sz="2208" dirty="0"/>
          </a:p>
          <a:p>
            <a:pPr algn="l" marL="342900" indent="-342900">
              <a:lnSpc>
                <a:spcPct val="105263"/>
              </a:lnSpc>
              <a:spcAft>
                <a:spcPts val="552"/>
              </a:spcAft>
              <a:buSzPct val="100000"/>
              <a:buChar char="▪"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server returns 403 and audits actor, tool, object, and reason</a:t>
            </a:r>
            <a:endParaRPr lang="en-US" sz="2208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Scopes and roles answer different questions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Scope — what the </a:t>
            </a:r>
            <a:r>
              <a:rPr lang="en-US" sz="1665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app</a:t>
            </a: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may do</a:t>
            </a:r>
            <a:endParaRPr lang="en-US" sz="1665" dirty="0"/>
          </a:p>
        </p:txBody>
      </p:sp>
      <p:sp>
        <p:nvSpPr>
          <p:cNvPr id="8" name="Text 6"/>
          <p:cNvSpPr/>
          <p:nvPr/>
        </p:nvSpPr>
        <p:spPr>
          <a:xfrm>
            <a:off x="685800" y="2845283"/>
            <a:ext cx="5219700" cy="25274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Requested by the client, granted by </a:t>
            </a:r>
            <a:r>
              <a:rPr lang="en-US" sz="1776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authorization-server policy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Lives in the token: </a:t>
            </a: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scope: "campuspulse.read"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Bounds the client, not the human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Coarse by design — a handful, not hundreds</a:t>
            </a:r>
            <a:endParaRPr lang="en-US" sz="1776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44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 — what the </a:t>
            </a:r>
            <a:r>
              <a:rPr lang="en-US" sz="1665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user</a:t>
            </a:r>
            <a:r>
              <a:rPr lang="en-US" sz="166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 may do</a:t>
            </a:r>
            <a:endParaRPr lang="en-US" sz="1665" dirty="0"/>
          </a:p>
        </p:txBody>
      </p:sp>
      <p:sp>
        <p:nvSpPr>
          <p:cNvPr id="10" name="Text 8"/>
          <p:cNvSpPr/>
          <p:nvPr/>
        </p:nvSpPr>
        <p:spPr>
          <a:xfrm>
            <a:off x="6286500" y="2845283"/>
            <a:ext cx="5219700" cy="152369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Assigned out of band, by an admin or a group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Lives in </a:t>
            </a:r>
            <a:r>
              <a:rPr lang="en-US" sz="17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roles</a:t>
            </a: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or in your database</a:t>
            </a:r>
            <a:endParaRPr lang="en-US" sz="1776" dirty="0"/>
          </a:p>
          <a:p>
            <a:pPr algn="l" marL="342900" indent="-342900">
              <a:lnSpc>
                <a:spcPct val="105263"/>
              </a:lnSpc>
              <a:spcAft>
                <a:spcPts val="444"/>
              </a:spcAft>
              <a:buSzPct val="100000"/>
              <a:buChar char="▪"/>
            </a:pPr>
            <a:r>
              <a:rPr lang="en-US" sz="17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Bounds the human, not the client</a:t>
            </a:r>
            <a:endParaRPr lang="en-US" sz="1776" dirty="0"/>
          </a:p>
        </p:txBody>
      </p:sp>
      <p:sp>
        <p:nvSpPr>
          <p:cNvPr id="11" name="Shape 9"/>
          <p:cNvSpPr/>
          <p:nvPr/>
        </p:nvSpPr>
        <p:spPr>
          <a:xfrm>
            <a:off x="6286500" y="4467657"/>
            <a:ext cx="5219700" cy="1500926"/>
          </a:xfrm>
          <a:prstGeom prst="roundRect">
            <a:avLst>
              <a:gd name="adj" fmla="val 3046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4467657"/>
            <a:ext cx="76200" cy="150092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5100" y="4581957"/>
            <a:ext cx="4762500" cy="23964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21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21" dirty="0"/>
          </a:p>
        </p:txBody>
      </p:sp>
      <p:sp>
        <p:nvSpPr>
          <p:cNvPr id="14" name="Text 12"/>
          <p:cNvSpPr/>
          <p:nvPr/>
        </p:nvSpPr>
        <p:spPr>
          <a:xfrm>
            <a:off x="6515100" y="4859706"/>
            <a:ext cx="4762500" cy="9564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effective permission is the </a:t>
            </a:r>
            <a:r>
              <a:rPr lang="en-US" sz="1669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intersection</a:t>
            </a:r>
            <a:r>
              <a:rPr lang="en-US" sz="166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 operator on a read-only client still may not post.</a:t>
            </a:r>
            <a:endParaRPr lang="en-US" sz="1669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Roles, attributes, and where to check them</a:t>
            </a:r>
            <a:endParaRPr lang="en-US" sz="3612" dirty="0"/>
          </a:p>
        </p:txBody>
      </p:sp>
      <p:sp>
        <p:nvSpPr>
          <p:cNvPr id="7" name="Text 5"/>
          <p:cNvSpPr/>
          <p:nvPr/>
        </p:nvSpPr>
        <p:spPr>
          <a:xfrm>
            <a:off x="685800" y="2202323"/>
            <a:ext cx="10820400" cy="22539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Role-Based Access Control (RBAC):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the user an operator?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Attribute-Based Access Control (ABAC):</a:t>
            </a: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assigned to this incident?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 checks help the interface, but an attacker can skip them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Gateway checks control entry</a:t>
            </a:r>
            <a:endParaRPr lang="en-US" sz="2064" dirty="0"/>
          </a:p>
          <a:p>
            <a:pPr algn="l" marL="342900" indent="-342900">
              <a:lnSpc>
                <a:spcPct val="105263"/>
              </a:lnSpc>
              <a:spcAft>
                <a:spcPts val="516"/>
              </a:spcAft>
              <a:buSzPct val="100000"/>
              <a:buChar char="▪"/>
            </a:pPr>
            <a:r>
              <a:rPr lang="en-US" sz="206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Resource-server checks protect the data and individual objects</a:t>
            </a:r>
            <a:endParaRPr lang="en-US" sz="2064" dirty="0"/>
          </a:p>
        </p:txBody>
      </p:sp>
      <p:sp>
        <p:nvSpPr>
          <p:cNvPr id="8" name="Shape 6"/>
          <p:cNvSpPr/>
          <p:nvPr/>
        </p:nvSpPr>
        <p:spPr>
          <a:xfrm>
            <a:off x="685800" y="4571000"/>
            <a:ext cx="10820400" cy="1344960"/>
          </a:xfrm>
          <a:prstGeom prst="roundRect">
            <a:avLst>
              <a:gd name="adj" fmla="val 3399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571000"/>
            <a:ext cx="76200" cy="1344960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685300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419" dirty="0"/>
          </a:p>
        </p:txBody>
      </p:sp>
      <p:sp>
        <p:nvSpPr>
          <p:cNvPr id="11" name="Text 9"/>
          <p:cNvSpPr/>
          <p:nvPr/>
        </p:nvSpPr>
        <p:spPr>
          <a:xfrm>
            <a:off x="914400" y="5001911"/>
            <a:ext cx="10363200" cy="761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hidden React button improves the user experience; it is not a permission check. The server must also reject a request typed directly into a terminal.</a:t>
            </a:r>
            <a:endParaRPr lang="en-US" sz="194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does the browser keep the token?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2416150"/>
            <a:ext cx="5219700" cy="303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9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Token in the SPA</a:t>
            </a:r>
            <a:endParaRPr lang="en-US" sz="1395" dirty="0"/>
          </a:p>
        </p:txBody>
      </p:sp>
      <p:sp>
        <p:nvSpPr>
          <p:cNvPr id="8" name="Text 6"/>
          <p:cNvSpPr/>
          <p:nvPr/>
        </p:nvSpPr>
        <p:spPr>
          <a:xfrm>
            <a:off x="685800" y="2790522"/>
            <a:ext cx="5219700" cy="10268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localStorage</a:t>
            </a: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any script can read it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In-memory — gone on refresh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XSS can read tokens and make requests as the user</a:t>
            </a:r>
            <a:endParaRPr lang="en-US" sz="1488" dirty="0"/>
          </a:p>
        </p:txBody>
      </p:sp>
      <p:sp>
        <p:nvSpPr>
          <p:cNvPr id="9" name="Text 7"/>
          <p:cNvSpPr/>
          <p:nvPr/>
        </p:nvSpPr>
        <p:spPr>
          <a:xfrm>
            <a:off x="6286500" y="2416150"/>
            <a:ext cx="5219700" cy="303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395" b="1" dirty="0">
                <a:solidFill>
                  <a:srgbClr val="B6CCDE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Backend-for-Frontend</a:t>
            </a:r>
            <a:endParaRPr lang="en-US" sz="1395" dirty="0"/>
          </a:p>
        </p:txBody>
      </p:sp>
      <p:sp>
        <p:nvSpPr>
          <p:cNvPr id="10" name="Text 8"/>
          <p:cNvSpPr/>
          <p:nvPr/>
        </p:nvSpPr>
        <p:spPr>
          <a:xfrm>
            <a:off x="6286500" y="2790522"/>
            <a:ext cx="5219700" cy="12914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Tokens live </a:t>
            </a:r>
            <a:r>
              <a:rPr lang="en-US" sz="148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server-side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 gets a random session-ID cookie, not the token</a:t>
            </a:r>
            <a:endParaRPr lang="en-US" sz="1488" dirty="0"/>
          </a:p>
          <a:p>
            <a:pPr algn="l" marL="342900" indent="-342900">
              <a:lnSpc>
                <a:spcPct val="105263"/>
              </a:lnSpc>
              <a:spcAft>
                <a:spcPts val="372"/>
              </a:spcAft>
              <a:buSzPct val="100000"/>
              <a:buChar char="▪"/>
            </a:pPr>
            <a:r>
              <a:rPr lang="en-US" sz="148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logout deletes the server's session record</a:t>
            </a:r>
            <a:endParaRPr lang="en-US" sz="1488" dirty="0"/>
          </a:p>
        </p:txBody>
      </p:sp>
      <p:sp>
        <p:nvSpPr>
          <p:cNvPr id="11" name="Shape 9"/>
          <p:cNvSpPr/>
          <p:nvPr/>
        </p:nvSpPr>
        <p:spPr>
          <a:xfrm>
            <a:off x="6286500" y="4164637"/>
            <a:ext cx="5219700" cy="1321788"/>
          </a:xfrm>
          <a:prstGeom prst="roundRect">
            <a:avLst>
              <a:gd name="adj" fmla="val 345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86500" y="4164637"/>
            <a:ext cx="76200" cy="1321788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5100" y="4278937"/>
            <a:ext cx="4762500" cy="2007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15100" y="4517824"/>
            <a:ext cx="4762500" cy="8162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39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HttpOnly blocks cookie reading, not requests. A BFF reduces token theft, but does not make XSS harmless.</a:t>
            </a:r>
            <a:endParaRPr lang="en-US" sz="1399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OWASP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Session Management Cheat Sheet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MDN — </a:t>
            </a:r>
            <a:r>
              <a:rPr lang="en-US" sz="1275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Set-Cookie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and its attributes</a:t>
            </a:r>
            <a:endParaRPr lang="en-US" sz="1275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1499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44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the cookie settings actually do</a:t>
            </a:r>
            <a:endParaRPr lang="en-US" sz="3444" dirty="0"/>
          </a:p>
        </p:txBody>
      </p:sp>
      <p:sp>
        <p:nvSpPr>
          <p:cNvPr id="7" name="Text 5"/>
          <p:cNvSpPr/>
          <p:nvPr/>
        </p:nvSpPr>
        <p:spPr>
          <a:xfrm>
            <a:off x="685800" y="1623119"/>
            <a:ext cx="10820400" cy="17410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HttpOnly: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page scripts cannot read the cookie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Secure: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 only over encrypted HTTPS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SameSite=Lax:</a:t>
            </a: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restrict cross-site sending; still use CSRF checks</a:t>
            </a:r>
            <a:endParaRPr lang="en-US" sz="1968" dirty="0"/>
          </a:p>
          <a:p>
            <a:pPr algn="l" marL="342900" indent="-342900">
              <a:lnSpc>
                <a:spcPct val="105263"/>
              </a:lnSpc>
              <a:spcAft>
                <a:spcPts val="492"/>
              </a:spcAft>
              <a:buSzPct val="100000"/>
              <a:buChar char="▪"/>
            </a:pPr>
            <a:r>
              <a:rPr lang="en-US" sz="196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Sign in, reload, then sign out: the session survives reload but not local logout</a:t>
            </a:r>
            <a:endParaRPr lang="en-US" sz="1968" dirty="0"/>
          </a:p>
        </p:txBody>
      </p:sp>
      <p:sp>
        <p:nvSpPr>
          <p:cNvPr id="8" name="Shape 6"/>
          <p:cNvSpPr/>
          <p:nvPr/>
        </p:nvSpPr>
        <p:spPr>
          <a:xfrm>
            <a:off x="685800" y="3473484"/>
            <a:ext cx="10820400" cy="977295"/>
          </a:xfrm>
          <a:prstGeom prst="roundRect">
            <a:avLst>
              <a:gd name="adj" fmla="val 5614"/>
            </a:avLst>
          </a:prstGeom>
          <a:solidFill>
            <a:srgbClr val="081726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473484"/>
            <a:ext cx="10820400" cy="323850"/>
          </a:xfrm>
          <a:prstGeom prst="rect">
            <a:avLst/>
          </a:prstGeom>
          <a:solidFill>
            <a:srgbClr val="1B3A54"/>
          </a:solidFill>
          <a:ln w="12700">
            <a:solidFill>
              <a:srgbClr val="0817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8200" y="349253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Course-content root - reuse Block A's installed demo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SHELL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6300" y="3923064"/>
            <a:ext cx="10439400" cy="40198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22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--prefix samples/oidc-web-app run demo</a:t>
            </a:r>
            <a:endParaRPr lang="en-US" sz="1722" dirty="0"/>
          </a:p>
        </p:txBody>
      </p:sp>
      <p:sp>
        <p:nvSpPr>
          <p:cNvPr id="12" name="Shape 10"/>
          <p:cNvSpPr/>
          <p:nvPr/>
        </p:nvSpPr>
        <p:spPr>
          <a:xfrm>
            <a:off x="685800" y="4575748"/>
            <a:ext cx="10820400" cy="1300833"/>
          </a:xfrm>
          <a:prstGeom prst="roundRect">
            <a:avLst>
              <a:gd name="adj" fmla="val 351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575748"/>
            <a:ext cx="76200" cy="130083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690048"/>
            <a:ext cx="10363200" cy="2655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3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353" dirty="0"/>
          </a:p>
        </p:txBody>
      </p:sp>
      <p:sp>
        <p:nvSpPr>
          <p:cNvPr id="15" name="Text 13"/>
          <p:cNvSpPr/>
          <p:nvPr/>
        </p:nvSpPr>
        <p:spPr>
          <a:xfrm>
            <a:off x="914400" y="4993705"/>
            <a:ext cx="10363200" cy="7304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5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 A's launcher starts client backend, provider and resource together. Its HTTP loopback mode uses a separate development cookie, never a production setting.</a:t>
            </a:r>
            <a:endParaRPr lang="en-US" sz="18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511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02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Refresh, revoke, log out — three different things</a:t>
            </a:r>
            <a:endParaRPr lang="en-US" sz="3024" dirty="0"/>
          </a:p>
        </p:txBody>
      </p:sp>
      <p:sp>
        <p:nvSpPr>
          <p:cNvPr id="7" name="Text 5"/>
          <p:cNvSpPr/>
          <p:nvPr/>
        </p:nvSpPr>
        <p:spPr>
          <a:xfrm>
            <a:off x="685800" y="1547841"/>
            <a:ext cx="10820400" cy="21707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Refresh: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exchange a refresh token for a new access token, ahead of </a:t>
            </a: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Rotation: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each refresh returns a </a:t>
            </a:r>
            <a:r>
              <a:rPr lang="en-US" sz="172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refresh token; the old one dies</a:t>
            </a:r>
            <a:endParaRPr lang="en-US" sz="1728" dirty="0"/>
          </a:p>
          <a:p>
            <a:pPr algn="l" lvl="1" marL="685800" indent="-342900">
              <a:lnSpc>
                <a:spcPct val="105263"/>
              </a:lnSpc>
              <a:spcAft>
                <a:spcPts val="432"/>
              </a:spcAft>
              <a:buSzPct val="100000"/>
              <a:buChar char="–"/>
            </a:pPr>
            <a:r>
              <a:rPr lang="en-US" sz="15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can mean theft or a retry race; our provider </a:t>
            </a:r>
            <a:r>
              <a:rPr lang="en-US" sz="15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revokes the family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Revocation: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RFC 7009 </a:t>
            </a: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/revoke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invalidates the token you present, and the AS </a:t>
            </a:r>
            <a:r>
              <a:rPr lang="en-US" sz="1728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may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revoke related grants</a:t>
            </a:r>
            <a:endParaRPr lang="en-US" sz="1728" dirty="0"/>
          </a:p>
          <a:p>
            <a:pPr algn="l" marL="342900" indent="-342900">
              <a:lnSpc>
                <a:spcPct val="105263"/>
              </a:lnSpc>
              <a:spcAft>
                <a:spcPts val="432"/>
              </a:spcAft>
              <a:buSzPct val="100000"/>
              <a:buChar char="▪"/>
            </a:pPr>
            <a:r>
              <a:rPr lang="en-US" sz="1728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Logout:</a:t>
            </a:r>
            <a:r>
              <a:rPr lang="en-US" sz="172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end your app's session; provider sign-out is a separate step</a:t>
            </a:r>
            <a:endParaRPr lang="en-US" sz="1728" dirty="0"/>
          </a:p>
        </p:txBody>
      </p:sp>
      <p:sp>
        <p:nvSpPr>
          <p:cNvPr id="8" name="Shape 6"/>
          <p:cNvSpPr/>
          <p:nvPr/>
        </p:nvSpPr>
        <p:spPr>
          <a:xfrm>
            <a:off x="685800" y="3814639"/>
            <a:ext cx="10820400" cy="1471070"/>
          </a:xfrm>
          <a:prstGeom prst="roundRect">
            <a:avLst>
              <a:gd name="adj" fmla="val 3108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14639"/>
            <a:ext cx="76200" cy="1471070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28939"/>
            <a:ext cx="10363200" cy="2331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00211"/>
            <a:ext cx="10363200" cy="933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JWT checked only offline can remain accepted until </a:t>
            </a:r>
            <a:r>
              <a:rPr lang="en-US" sz="16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</a:t>
            </a:r>
            <a:r>
              <a:rPr lang="en-US" sz="16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(plus clock tolerance). Earlier refusal needs a revocation check or policy lookup. Deleting the browser cookie alone does not revoke a copied token.</a:t>
            </a:r>
            <a:endParaRPr lang="en-US" sz="1624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7009, Token Revocation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OpenID Foundation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RP-Initiated Logout</a:t>
            </a:r>
            <a:endParaRPr lang="en-US" sz="1275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Six failures, and what catches each</a:t>
            </a:r>
            <a:endParaRPr lang="en-US" sz="3360" dirty="0"/>
          </a:p>
        </p:txBody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806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14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Failure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Symptom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 that finds it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 audience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works, too widely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present another API's token → 401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 issuer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accepts the wrong tenant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signed wrong-issuer variant → 401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Over-broad scope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scope, every tool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scope-to-tool table + a denied call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 token as API token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works, no scope exists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present the ID token → 401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4349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Missing PKCE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 works perfectly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wrong verifier → invalid_grant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Token in the URL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may leak through history/logs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HTTP Archive (HAR): ?access_token= or Referer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9700, OAuth 2.0 Security Best Current Practice</a:t>
            </a:r>
            <a:endParaRPr lang="en-US" sz="1275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2209800"/>
            <a:ext cx="9525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above, applied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2628900"/>
            <a:ext cx="1333500" cy="762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91465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Authorizing the MCP server you built last week</a:t>
            </a:r>
            <a:endParaRPr lang="en-US" sz="42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MCP does not invent an auth model. It profiles one.</a:t>
            </a:r>
            <a:endParaRPr lang="en-US" sz="2940" dirty="0"/>
          </a:p>
        </p:txBody>
      </p:sp>
      <p:sp>
        <p:nvSpPr>
          <p:cNvPr id="7" name="Text 5"/>
          <p:cNvSpPr/>
          <p:nvPr/>
        </p:nvSpPr>
        <p:spPr>
          <a:xfrm>
            <a:off x="685800" y="1532786"/>
            <a:ext cx="10820400" cy="2203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HTTP MCP server using authorization follows an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OAuth resource-server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profile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publish protected-resource metadata (RFC 9728)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Clients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use Authorization Code +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PKCE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send </a:t>
            </a: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(RFC 8707)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Servers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only accept tokens whose audience is themselves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Servers </a:t>
            </a:r>
            <a:r>
              <a:rPr lang="en-US" sz="168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MUST NOT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accept or forward any other token — no passthrough</a:t>
            </a:r>
            <a:endParaRPr lang="en-US" sz="1680" dirty="0"/>
          </a:p>
          <a:p>
            <a:pPr algn="l" marL="342900" indent="-342900">
              <a:lnSpc>
                <a:spcPct val="105263"/>
              </a:lnSpc>
              <a:spcAft>
                <a:spcPts val="420"/>
              </a:spcAft>
              <a:buSzPct val="100000"/>
              <a:buChar char="▪"/>
            </a:pPr>
            <a:r>
              <a:rPr lang="en-US" sz="168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stdio</a:t>
            </a:r>
            <a:r>
              <a:rPr lang="en-US" sz="168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servers are excluded: they take credentials from the environment</a:t>
            </a:r>
            <a:endParaRPr lang="en-US" sz="1680" dirty="0"/>
          </a:p>
        </p:txBody>
      </p:sp>
      <p:sp>
        <p:nvSpPr>
          <p:cNvPr id="8" name="Shape 6"/>
          <p:cNvSpPr/>
          <p:nvPr/>
        </p:nvSpPr>
        <p:spPr>
          <a:xfrm>
            <a:off x="685800" y="3829835"/>
            <a:ext cx="10820400" cy="1441213"/>
          </a:xfrm>
          <a:prstGeom prst="roundRect">
            <a:avLst>
              <a:gd name="adj" fmla="val 3172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829835"/>
            <a:ext cx="76200" cy="144121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944135"/>
            <a:ext cx="103632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08930"/>
            <a:ext cx="10363200" cy="9097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requirement above is something you already did in Blocks A and B. The MCP specification's contribution is making the discovery step mandatory so a client can find its way in without configuration.</a:t>
            </a:r>
            <a:endParaRPr lang="en-US" sz="1579" dirty="0"/>
          </a:p>
        </p:txBody>
      </p:sp>
      <p:sp>
        <p:nvSpPr>
          <p:cNvPr id="12" name="Shape 10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Authorization, specification 2026-07-28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9728, Protected Resource Metadata</a:t>
            </a:r>
            <a:endParaRPr lang="en-US" sz="1275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36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are adding to last week's system</a:t>
            </a:r>
            <a:endParaRPr lang="en-US" sz="4200" dirty="0"/>
          </a:p>
        </p:txBody>
      </p:sp>
      <p:pic>
        <p:nvPicPr>
          <p:cNvPr id="7" name="Image 0" descr="Diagra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685800" y="2416150"/>
            <a:ext cx="10820400" cy="31616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5577840"/>
            <a:ext cx="10820400" cy="403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90226"/>
              </a:lnSpc>
              <a:buNone/>
            </a:pPr>
            <a:r>
              <a:rPr lang="en-US" sz="18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process added in front of the Week 7 server. The MCP server itself does not change.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876300"/>
            <a:ext cx="2000250" cy="400050"/>
          </a:xfrm>
          <a:prstGeom prst="roundRect">
            <a:avLst>
              <a:gd name="adj" fmla="val 114286"/>
            </a:avLst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876300"/>
            <a:ext cx="200025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2A1F00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▶  LIVE DEMO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42875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Follow along: 401 → 403 → 200</a:t>
            </a:r>
            <a:endParaRPr lang="en-US" sz="3612" dirty="0"/>
          </a:p>
        </p:txBody>
      </p:sp>
      <p:sp>
        <p:nvSpPr>
          <p:cNvPr id="9" name="Shape 7"/>
          <p:cNvSpPr/>
          <p:nvPr/>
        </p:nvSpPr>
        <p:spPr>
          <a:xfrm>
            <a:off x="685800" y="2183583"/>
            <a:ext cx="5238750" cy="3531417"/>
          </a:xfrm>
          <a:prstGeom prst="roundRect">
            <a:avLst>
              <a:gd name="adj" fmla="val 1295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535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DO THIS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914400" y="2640783"/>
            <a:ext cx="4781550" cy="29212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1"/>
            </a:pP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24 LTS; course root =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instructor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master, or student download root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2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:9100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issuer ·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:8930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proxy · </a:t>
            </a: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2112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:8931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server</a:t>
            </a:r>
            <a:endParaRPr lang="en-US" sz="2112" dirty="0"/>
          </a:p>
          <a:p>
            <a:pPr algn="l" marL="342900" indent="-342900">
              <a:lnSpc>
                <a:spcPct val="105263"/>
              </a:lnSpc>
              <a:spcAft>
                <a:spcPts val="528"/>
              </a:spcAft>
              <a:buSzPct val="100000"/>
              <a:buFont typeface="+mj-lt"/>
              <a:buAutoNum type="arabicPeriod" startAt="3"/>
            </a:pPr>
            <a:r>
              <a:rPr lang="en-US" sz="2112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</a:t>
            </a:r>
            <a:r>
              <a:rPr lang="en-US" sz="211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runs calls. Stop A, B, C with Ctrl+C</a:t>
            </a:r>
            <a:endParaRPr lang="en-US" sz="2112" dirty="0"/>
          </a:p>
        </p:txBody>
      </p:sp>
      <p:sp>
        <p:nvSpPr>
          <p:cNvPr id="12" name="Shape 10"/>
          <p:cNvSpPr/>
          <p:nvPr/>
        </p:nvSpPr>
        <p:spPr>
          <a:xfrm>
            <a:off x="6267450" y="2183583"/>
            <a:ext cx="5238750" cy="1977594"/>
          </a:xfrm>
          <a:prstGeom prst="roundRect">
            <a:avLst>
              <a:gd name="adj" fmla="val 2312"/>
            </a:avLst>
          </a:prstGeom>
          <a:solidFill>
            <a:srgbClr val="17364E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77000" y="2297883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WATCH FOR</a:t>
            </a:r>
            <a:endParaRPr lang="en-US" sz="1575" dirty="0"/>
          </a:p>
        </p:txBody>
      </p:sp>
      <p:sp>
        <p:nvSpPr>
          <p:cNvPr id="14" name="Text 12"/>
          <p:cNvSpPr/>
          <p:nvPr/>
        </p:nvSpPr>
        <p:spPr>
          <a:xfrm>
            <a:off x="6496050" y="2640783"/>
            <a:ext cx="4781550" cy="12088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token: 401 with metadata pointer</a:t>
            </a:r>
            <a:endParaRPr lang="en-US" sz="1872" dirty="0"/>
          </a:p>
          <a:p>
            <a:pPr algn="l" marL="342900" indent="-342900">
              <a:lnSpc>
                <a:spcPct val="105263"/>
              </a:lnSpc>
              <a:spcAft>
                <a:spcPts val="468"/>
              </a:spcAft>
              <a:buSzPct val="100000"/>
              <a:buChar char="▪"/>
            </a:pPr>
            <a:r>
              <a:rPr lang="en-US" sz="1872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 write: 403; operator write: 200</a:t>
            </a:r>
            <a:endParaRPr lang="en-US" sz="1872" dirty="0"/>
          </a:p>
        </p:txBody>
      </p:sp>
      <p:sp>
        <p:nvSpPr>
          <p:cNvPr id="15" name="Shape 13"/>
          <p:cNvSpPr/>
          <p:nvPr/>
        </p:nvSpPr>
        <p:spPr>
          <a:xfrm>
            <a:off x="6267450" y="4351676"/>
            <a:ext cx="5238750" cy="1363324"/>
          </a:xfrm>
          <a:prstGeom prst="roundRect">
            <a:avLst>
              <a:gd name="adj" fmla="val 3354"/>
            </a:avLst>
          </a:prstGeom>
          <a:solidFill>
            <a:srgbClr val="2C2410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7000" y="4465976"/>
            <a:ext cx="481965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75" b="1" spc="14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IF IT FAILS</a:t>
            </a:r>
            <a:endParaRPr lang="en-US" sz="1575" dirty="0"/>
          </a:p>
        </p:txBody>
      </p:sp>
      <p:sp>
        <p:nvSpPr>
          <p:cNvPr id="17" name="Text 15"/>
          <p:cNvSpPr/>
          <p:nvPr/>
        </p:nvSpPr>
        <p:spPr>
          <a:xfrm>
            <a:off x="6496050" y="4808876"/>
            <a:ext cx="4781550" cy="472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08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captured-walk fallback.</a:t>
            </a:r>
            <a:endParaRPr lang="en-US" sz="2208" dirty="0"/>
          </a:p>
        </p:txBody>
      </p:sp>
      <p:sp>
        <p:nvSpPr>
          <p:cNvPr id="18" name="Shape 16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Parts 0 and 5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authorization proxy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Every server/client command and recovery step</a:t>
            </a:r>
            <a:endParaRPr lang="en-US" sz="1275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Terminals A and B: issuer and proxy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1698397"/>
            <a:ext cx="10820400" cy="2757251"/>
          </a:xfrm>
          <a:prstGeom prst="roundRect">
            <a:avLst>
              <a:gd name="adj" fmla="val 199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83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74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in each new window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7977"/>
            <a:ext cx="10439400" cy="218194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A: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$env:PORT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'9100'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node authz</a:t>
            </a:r>
            <a:r>
              <a:rPr lang="en-US" sz="165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-server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B: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$env:MCP_UPSTREAM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'http://127.0.0.1:8931/mcp'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$env:PORT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'8930'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node mcp</a:t>
            </a:r>
            <a:r>
              <a:rPr lang="en-US" sz="165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-auth-proxy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4595857"/>
            <a:ext cx="10820400" cy="1052666"/>
          </a:xfrm>
          <a:prstGeom prst="roundRect">
            <a:avLst>
              <a:gd name="adj" fmla="val 434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595857"/>
            <a:ext cx="76200" cy="105266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10157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4" name="Text 12"/>
          <p:cNvSpPr/>
          <p:nvPr/>
        </p:nvSpPr>
        <p:spPr>
          <a:xfrm>
            <a:off x="914400" y="5046199"/>
            <a:ext cx="10363200" cy="4499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Reuse your lab issuer if already running. Keep A and B open, then start C.</a:t>
            </a:r>
            <a:endParaRPr lang="en-US" sz="207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0</a:t>
            </a:r>
            <a:endParaRPr lang="en-US" sz="1275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issuer and proxy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1698397"/>
            <a:ext cx="10820400" cy="2458608"/>
          </a:xfrm>
          <a:prstGeom prst="roundRect">
            <a:avLst>
              <a:gd name="adj" fmla="val 22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83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74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in each new window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7977"/>
            <a:ext cx="10439400" cy="18832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A: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PORT=9100 node authz-server.mjs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B: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PORT=8930 MCP_UPSTREAM=http://127.0.0.1:8931/mcp node mcp-auth-proxy.mjs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4297214"/>
            <a:ext cx="10820400" cy="1411150"/>
          </a:xfrm>
          <a:prstGeom prst="roundRect">
            <a:avLst>
              <a:gd name="adj" fmla="val 324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297214"/>
            <a:ext cx="76200" cy="141115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11514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4" name="Text 12"/>
          <p:cNvSpPr/>
          <p:nvPr/>
        </p:nvSpPr>
        <p:spPr>
          <a:xfrm>
            <a:off x="914400" y="4747556"/>
            <a:ext cx="10363200" cy="80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:8930</a:t>
            </a: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prints its policy table. Reuse a running issuer; keep A and B open, then start C.</a:t>
            </a:r>
            <a:endParaRPr lang="en-US" sz="207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 8 lab, Part 0</a:t>
            </a:r>
            <a:endParaRPr lang="en-US" sz="1275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C: a memory-only backend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1698397"/>
            <a:ext cx="10820400" cy="2458608"/>
          </a:xfrm>
          <a:prstGeom prst="roundRect">
            <a:avLst>
              <a:gd name="adj" fmla="val 22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83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74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repository root - Terminal C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7977"/>
            <a:ext cx="10439400" cy="18832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samples\mcp</a:t>
            </a:r>
            <a:r>
              <a:rPr lang="en-US" sz="1656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-starter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ci                      </a:t>
            </a: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before class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build               </a:t>
            </a: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before class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$env:MCP_HOST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'127.0.0.1'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</a:t>
            </a: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$env:PORT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'8931'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$env:DATABASE_URL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656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$null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</a:t>
            </a:r>
            <a:r>
              <a:rPr lang="en-US" sz="16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:http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4297214"/>
            <a:ext cx="10820400" cy="1411150"/>
          </a:xfrm>
          <a:prstGeom prst="roundRect">
            <a:avLst>
              <a:gd name="adj" fmla="val 324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297214"/>
            <a:ext cx="76200" cy="141115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11514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4" name="Text 12"/>
          <p:cNvSpPr/>
          <p:nvPr/>
        </p:nvSpPr>
        <p:spPr>
          <a:xfrm>
            <a:off x="914400" y="4747556"/>
            <a:ext cx="10363200" cy="80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</a:t>
            </a:r>
            <a:r>
              <a:rPr lang="en-US" sz="207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store=memory</a:t>
            </a: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"NO AUTHORIZATION". Only the proxy adds the authorization boundary.</a:t>
            </a:r>
            <a:endParaRPr lang="en-US" sz="207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starter quick start</a:t>
            </a:r>
            <a:endParaRPr lang="en-US" sz="1275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a memory-only backend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1965198"/>
          </a:xfrm>
          <a:prstGeom prst="roundRect">
            <a:avLst>
              <a:gd name="adj" fmla="val 27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repository root - Terminal C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38988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samples/mcp-starter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ci                   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before class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 run build               </a:t>
            </a:r>
            <a:r>
              <a:rPr lang="en-US" sz="180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before class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MCP_HOST=127.0.0.1 PORT=8931 </a:t>
            </a:r>
            <a:r>
              <a:rPr lang="en-US" sz="18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</a:t>
            </a: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-u DATABASE_URL npm run start:http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3876218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76218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90518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352468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 -u DATABASE_URL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guarantees </a:t>
            </a:r>
            <a:r>
              <a:rPr lang="en-US" sz="225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store=memory</a:t>
            </a: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so the operator's write stays synthetic.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starter quick start</a:t>
            </a:r>
            <a:endParaRPr lang="en-US" sz="1275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D: refusal and discovery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3008"/>
            <a:ext cx="10820400" cy="2692329"/>
          </a:xfrm>
          <a:prstGeom prst="roundRect">
            <a:avLst>
              <a:gd name="adj" fmla="val 2038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30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course-content root - fresh Terminal 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88"/>
            <a:ext cx="10439400" cy="21170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weeks\week08\samples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=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'http://127.0.0.1:8930'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-i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-d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"{}"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"content-type: application/json"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"Mcp-Method: tools/call"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"Mcp-Name: post_incident_update"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"Mcp-Protocol-Version: 2026-07-28"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curl.exe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--noproxy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-sS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--max-time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40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`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40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40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/.well-known/oauth-protected-resource"</a:t>
            </a:r>
            <a:endParaRPr lang="en-US" sz="1404" dirty="0"/>
          </a:p>
        </p:txBody>
      </p:sp>
      <p:sp>
        <p:nvSpPr>
          <p:cNvPr id="11" name="Shape 9"/>
          <p:cNvSpPr/>
          <p:nvPr/>
        </p:nvSpPr>
        <p:spPr>
          <a:xfrm>
            <a:off x="685800" y="4404209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04209"/>
            <a:ext cx="76200" cy="125670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8509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914400" y="4809212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</a:t>
            </a: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</a:t>
            </a: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</a:t>
            </a: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WWW-Authenticate</a:t>
            </a: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a metadata URL and scope </a:t>
            </a:r>
            <a:r>
              <a:rPr lang="en-US" sz="176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campuspulse.incident.write</a:t>
            </a: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76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9728, Protected Resource Metadata</a:t>
            </a:r>
            <a:endParaRPr lang="en-US" sz="1275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4053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refusal and discovery</a:t>
            </a:r>
            <a:endParaRPr lang="en-US" sz="3612" dirty="0"/>
          </a:p>
        </p:txBody>
      </p:sp>
      <p:sp>
        <p:nvSpPr>
          <p:cNvPr id="7" name="Shape 5"/>
          <p:cNvSpPr/>
          <p:nvPr/>
        </p:nvSpPr>
        <p:spPr>
          <a:xfrm>
            <a:off x="685800" y="1653231"/>
            <a:ext cx="10820400" cy="2900081"/>
          </a:xfrm>
          <a:prstGeom prst="roundRect">
            <a:avLst>
              <a:gd name="adj" fmla="val 189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53231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72281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course-content root - fresh Terminal D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02811"/>
            <a:ext cx="10439400" cy="232477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weeks/week08/samples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PROXY=http://127.0.0.1:8930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-i --noproxy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--max-time 10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548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/mcp"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-d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'{}'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"content-type: application/json"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-H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"Mcp-Method: tools/call"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"Mcp-Name: post_incident_update"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\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-H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"Mcp-Protocol-Version: 2026-07-28"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 -sS --noproxy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'*'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--max-time 10 \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</a:t>
            </a:r>
            <a:r>
              <a:rPr lang="en-US" sz="1548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$PROXY</a:t>
            </a:r>
            <a:r>
              <a:rPr lang="en-US" sz="1548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/.well-known/oauth-protected-resource"</a:t>
            </a:r>
            <a:endParaRPr lang="en-US" sz="1548" dirty="0"/>
          </a:p>
        </p:txBody>
      </p:sp>
      <p:sp>
        <p:nvSpPr>
          <p:cNvPr id="11" name="Shape 9"/>
          <p:cNvSpPr/>
          <p:nvPr/>
        </p:nvSpPr>
        <p:spPr>
          <a:xfrm>
            <a:off x="685800" y="4684375"/>
            <a:ext cx="10820400" cy="1009855"/>
          </a:xfrm>
          <a:prstGeom prst="roundRect">
            <a:avLst>
              <a:gd name="adj" fmla="val 4527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84375"/>
            <a:ext cx="76200" cy="1009855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98675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19" dirty="0"/>
          </a:p>
        </p:txBody>
      </p:sp>
      <p:sp>
        <p:nvSpPr>
          <p:cNvPr id="14" name="Text 12"/>
          <p:cNvSpPr/>
          <p:nvPr/>
        </p:nvSpPr>
        <p:spPr>
          <a:xfrm>
            <a:off x="914400" y="5115286"/>
            <a:ext cx="10363200" cy="426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Expect 401 plus a </a:t>
            </a:r>
            <a:r>
              <a:rPr lang="en-US" sz="194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WWW-Authenticate</a:t>
            </a: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naming the metadata URL and the write scope.</a:t>
            </a:r>
            <a:endParaRPr lang="en-US" sz="194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IETF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RFC 9728, Protected Resource Metadata</a:t>
            </a:r>
            <a:endParaRPr lang="en-US" sz="1275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6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78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D: three authenticated calls</a:t>
            </a:r>
            <a:endParaRPr lang="en-US" sz="3780" dirty="0"/>
          </a:p>
        </p:txBody>
      </p:sp>
      <p:sp>
        <p:nvSpPr>
          <p:cNvPr id="7" name="Shape 5"/>
          <p:cNvSpPr/>
          <p:nvPr/>
        </p:nvSpPr>
        <p:spPr>
          <a:xfrm>
            <a:off x="685800" y="1683342"/>
            <a:ext cx="10820400" cy="2127504"/>
          </a:xfrm>
          <a:prstGeom prst="roundRect">
            <a:avLst>
              <a:gd name="adj" fmla="val 257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83342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02392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keep A, B, C running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32922"/>
            <a:ext cx="10439400" cy="1552194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-client-walk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-client-walk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--tool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post_incident_update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-client-walk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--tool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post_incident_update `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--login-as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operator</a:t>
            </a:r>
            <a:endParaRPr lang="en-US" sz="162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-client-walk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620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--tool</a:t>
            </a:r>
            <a:r>
              <a:rPr lang="en-US" sz="162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get_incident</a:t>
            </a:r>
            <a:endParaRPr lang="en-US" sz="1620" dirty="0"/>
          </a:p>
        </p:txBody>
      </p:sp>
      <p:sp>
        <p:nvSpPr>
          <p:cNvPr id="11" name="Shape 9"/>
          <p:cNvSpPr/>
          <p:nvPr/>
        </p:nvSpPr>
        <p:spPr>
          <a:xfrm>
            <a:off x="685800" y="3948006"/>
            <a:ext cx="10820400" cy="1389086"/>
          </a:xfrm>
          <a:prstGeom prst="roundRect">
            <a:avLst>
              <a:gd name="adj" fmla="val 3291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48006"/>
            <a:ext cx="76200" cy="138908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062306"/>
            <a:ext cx="10363200" cy="291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85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85" dirty="0"/>
          </a:p>
        </p:txBody>
      </p:sp>
      <p:sp>
        <p:nvSpPr>
          <p:cNvPr id="14" name="Text 12"/>
          <p:cNvSpPr/>
          <p:nvPr/>
        </p:nvSpPr>
        <p:spPr>
          <a:xfrm>
            <a:off x="914400" y="4391871"/>
            <a:ext cx="10363200" cy="7928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3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 the incident again: the operator's fixed classroom update is public and visible. Viewer write is denied. HTTP 200 with a tool error is not success.</a:t>
            </a:r>
            <a:endParaRPr lang="en-US" sz="2030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MCP authorization walk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real-provider integration and limits</a:t>
            </a:r>
            <a:endParaRPr lang="en-US" sz="1275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macOS: three authenticated calls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85800" y="1758620"/>
            <a:ext cx="10820400" cy="2289810"/>
          </a:xfrm>
          <a:prstGeom prst="roundRect">
            <a:avLst>
              <a:gd name="adj" fmla="val 239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5862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7767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keep A, B, C running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208200"/>
            <a:ext cx="10439400" cy="1714500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mcp-client-walk.mjs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mcp-client-walk.mjs --tool post_incident_update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mcp-client-walk.mjs --tool post_incident_update \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--login-as operator</a:t>
            </a:r>
            <a:endParaRPr lang="en-US" sz="180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80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mcp-client-walk.mjs --tool get_incident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85800" y="4200830"/>
            <a:ext cx="10820400" cy="1499403"/>
          </a:xfrm>
          <a:prstGeom prst="roundRect">
            <a:avLst>
              <a:gd name="adj" fmla="val 304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200830"/>
            <a:ext cx="76200" cy="1499403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15130"/>
            <a:ext cx="10363200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914400" y="4677080"/>
            <a:ext cx="10363200" cy="8707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5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 → 403 → 200. Read the incident again to see the fixed synthetic update; the launcher commands keep all writes in memory.</a:t>
            </a:r>
            <a:endParaRPr lang="en-US" sz="225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local MCP authorization walk</a:t>
            </a:r>
            <a:endParaRPr lang="en-US" sz="1275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One missing token, three authenticated cases</a:t>
            </a:r>
            <a:endParaRPr lang="en-US" sz="3360" dirty="0"/>
          </a:p>
        </p:txBody>
      </p:sp>
      <p:graphicFrame>
        <p:nvGraphicFramePr>
          <p:cNvPr id="9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08064"/>
          <a:ext cx="10820400" cy="914400"/>
        </p:xfrm>
        <a:graphic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414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40" b="1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decided it</a:t>
                      </a:r>
                      <a:endParaRPr lang="en-US" sz="144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363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token at all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401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credential; challenge carries resource_metadata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Viewer, read tool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Granted scope covers campuspulse.read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Viewer, write tool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403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Tenant refused to grant the write scope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Operator, write tool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Scope granted and the operator role matched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44B"/>
                    </a:solidFill>
                  </a:tcPr>
                </a:tc>
              </a:tr>
              <a:tr h="69844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Any of the four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—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60" dirty="0">
                          <a:solidFill>
                            <a:srgbClr val="F3F8F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 of them proves 8931 is protected</a:t>
                      </a:r>
                      <a:endParaRPr lang="en-US" sz="156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127000" marR="127000" marT="76200" marB="76200" anchor="t">
                    <a:lnL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F52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B2B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Authorization, specification 2026-07-28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walks</a:t>
            </a:r>
            <a:endParaRPr lang="en-US" sz="1275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894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27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handshake starts with a refusal</a:t>
            </a:r>
            <a:endParaRPr lang="en-US" sz="3276" dirty="0"/>
          </a:p>
        </p:txBody>
      </p:sp>
      <p:sp>
        <p:nvSpPr>
          <p:cNvPr id="7" name="Shape 5"/>
          <p:cNvSpPr/>
          <p:nvPr/>
        </p:nvSpPr>
        <p:spPr>
          <a:xfrm>
            <a:off x="685800" y="1593008"/>
            <a:ext cx="10820400" cy="2945526"/>
          </a:xfrm>
          <a:prstGeom prst="roundRect">
            <a:avLst>
              <a:gd name="adj" fmla="val 186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93008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612058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mcp-client-walk.mjs — captured 2026-08-15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042588"/>
            <a:ext cx="10439400" cy="237021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 tools/call list_service_status, no token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 401; challenge names resource_metadata and scope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 GET http://127.0.0.1:8930/.well-known/oauth-protected-resource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"resource": "http://127.0.0.1:8930/mcp",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"authorization_servers": ["http://127.0.0.1:9100"],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"scopes_supported": ["campuspulse.read", "campuspulse.incident.write"],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"bearer_methods_supported": ["header"]</a:t>
            </a:r>
            <a:endParaRPr lang="en-US" sz="140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40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4" dirty="0"/>
          </a:p>
        </p:txBody>
      </p:sp>
      <p:sp>
        <p:nvSpPr>
          <p:cNvPr id="11" name="Shape 9"/>
          <p:cNvSpPr/>
          <p:nvPr/>
        </p:nvSpPr>
        <p:spPr>
          <a:xfrm>
            <a:off x="685800" y="4657406"/>
            <a:ext cx="10820400" cy="1256707"/>
          </a:xfrm>
          <a:prstGeom prst="roundRect">
            <a:avLst>
              <a:gd name="adj" fmla="val 3638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657406"/>
            <a:ext cx="76200" cy="125670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71706"/>
            <a:ext cx="10363200" cy="2526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87" dirty="0"/>
          </a:p>
        </p:txBody>
      </p:sp>
      <p:sp>
        <p:nvSpPr>
          <p:cNvPr id="14" name="Text 12"/>
          <p:cNvSpPr/>
          <p:nvPr/>
        </p:nvSpPr>
        <p:spPr>
          <a:xfrm>
            <a:off x="914400" y="5062409"/>
            <a:ext cx="10363200" cy="6993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6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401 is the discovery starting point here: follow its protected-resource metadata (PRM) URL. Clients can also discover metadata via well-known paths.</a:t>
            </a:r>
            <a:endParaRPr lang="en-US" sz="176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25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Per-tool scope, decided without parsing the body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517730"/>
            <a:ext cx="10820400" cy="2874112"/>
          </a:xfrm>
          <a:prstGeom prst="roundRect">
            <a:avLst>
              <a:gd name="adj" fmla="val 190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1773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3678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2026-07-28 requires the target in a header, not just the body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67310"/>
            <a:ext cx="10439400" cy="22988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Mcp-Method: tools/call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Mcp-Name: post_incident_update    # body must agree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Mcp-Protocol-Version: 2026-07-28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 scope policy (writes also require operator role):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list_service_status   -&gt; campuspulse.read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get_incident          -&gt; campuspulse.read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draft_incident_update -&gt; campuspulse.read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post_incident_update  -&gt; campuspulse.incident.write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everything else       -&gt; deny by default</a:t>
            </a:r>
            <a:endParaRPr lang="en-US" sz="1224" dirty="0"/>
          </a:p>
        </p:txBody>
      </p:sp>
      <p:sp>
        <p:nvSpPr>
          <p:cNvPr id="11" name="Shape 9"/>
          <p:cNvSpPr/>
          <p:nvPr/>
        </p:nvSpPr>
        <p:spPr>
          <a:xfrm>
            <a:off x="685800" y="4495474"/>
            <a:ext cx="10820400" cy="1411357"/>
          </a:xfrm>
          <a:prstGeom prst="roundRect">
            <a:avLst>
              <a:gd name="adj" fmla="val 323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95474"/>
            <a:ext cx="76200" cy="1411357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09774"/>
            <a:ext cx="10363200" cy="220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68092"/>
            <a:ext cx="10363200" cy="8863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Header routing lets an intermediary route and rate-limit an MCP call </a:t>
            </a:r>
            <a:r>
              <a:rPr lang="en-US" sz="153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</a:t>
            </a: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parsing JSON-RPC, and stops a caller showing the proxy one target while the server runs another. A careful proxy still parses the body to confirm they agree.</a:t>
            </a:r>
            <a:endParaRPr lang="en-US" sz="1534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98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38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94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 same call, one credential apart</a:t>
            </a:r>
            <a:endParaRPr lang="en-US" sz="2940" dirty="0"/>
          </a:p>
        </p:txBody>
      </p:sp>
      <p:sp>
        <p:nvSpPr>
          <p:cNvPr id="7" name="Shape 5"/>
          <p:cNvSpPr/>
          <p:nvPr/>
        </p:nvSpPr>
        <p:spPr>
          <a:xfrm>
            <a:off x="685800" y="1532786"/>
            <a:ext cx="10820400" cy="3166262"/>
          </a:xfrm>
          <a:prstGeom prst="roundRect">
            <a:avLst>
              <a:gd name="adj" fmla="val 1733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32786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51836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mcp-client-walk.mjs --tool post_incident_update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82366"/>
            <a:ext cx="10439400" cy="25909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 a VIEWER — the tenant refused to grant the write scope at all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scope         openid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 tools/call post_incident_update WITH the access token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HTTP 403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WWW-Authenticate: Bearer error="insufficient_scope",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scope="campuspulse.incident.write",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resource_metadata="http://127.0.0.1:8930/.well-known/…"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 an OPERATOR — same client, same tool, same server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scope         openid campuspulse.incident.write</a:t>
            </a:r>
            <a:endParaRPr lang="en-US" sz="1260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60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[7] HTTP 200  {"result":{"content":[{"type":"text", …</a:t>
            </a:r>
            <a:endParaRPr lang="en-US" sz="1260" dirty="0"/>
          </a:p>
        </p:txBody>
      </p:sp>
      <p:sp>
        <p:nvSpPr>
          <p:cNvPr id="11" name="Shape 9"/>
          <p:cNvSpPr/>
          <p:nvPr/>
        </p:nvSpPr>
        <p:spPr>
          <a:xfrm>
            <a:off x="685800" y="4805728"/>
            <a:ext cx="10820400" cy="1168454"/>
          </a:xfrm>
          <a:prstGeom prst="roundRect">
            <a:avLst>
              <a:gd name="adj" fmla="val 3913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805728"/>
            <a:ext cx="76200" cy="1168454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920028"/>
            <a:ext cx="10363200" cy="2266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184823"/>
            <a:ext cx="10363200" cy="636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79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401 → 403 → 200. Three different answers to the same request, and the only variable is the credential. That progression separates authentication from authorization.</a:t>
            </a:r>
            <a:endParaRPr lang="en-US" sz="1579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99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256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85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Where Week 7 and Week 8 actually collide</a:t>
            </a:r>
            <a:endParaRPr lang="en-US" sz="2856" dirty="0"/>
          </a:p>
        </p:txBody>
      </p:sp>
      <p:sp>
        <p:nvSpPr>
          <p:cNvPr id="7" name="Shape 5"/>
          <p:cNvSpPr/>
          <p:nvPr/>
        </p:nvSpPr>
        <p:spPr>
          <a:xfrm>
            <a:off x="685800" y="1517730"/>
            <a:ext cx="10820400" cy="2874112"/>
          </a:xfrm>
          <a:prstGeom prst="roundRect">
            <a:avLst>
              <a:gd name="adj" fmla="val 190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17730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536780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expiry-mid-connection.mjs --ttl 6   (ENFORCE_STREAM_EXPIRY=0)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CONSOLE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1967310"/>
            <a:ext cx="10439400" cy="22988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0s  stream opened: HTTP 200 text/event-stream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0s  open        {"exp":1786824030,"expires_in":6,"enforcing":false}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2s  heartbeat   {"n":1,"token_expires_in":4,"still_streaming":true}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6s  heartbeat   {"n":3,"token_expires_in":0,"still_streaming":true}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8s  heartbeat   {"n":4,"token_expires_in":-2,"still_streaming":true}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t+ 12s  heartbeat   {"n":6,"token_expires_in":-7,"still_streaming":true}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</a:t>
            </a: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 ENFORCE_STREAM_EXPIRY=1: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t+  8s  token_expired  {"error":"invalid_token",</a:t>
            </a:r>
            <a:endParaRPr lang="en-US" sz="122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22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                      "error_description":"re-authorize and reconnect"}</a:t>
            </a:r>
            <a:endParaRPr lang="en-US" sz="1224" dirty="0"/>
          </a:p>
        </p:txBody>
      </p:sp>
      <p:sp>
        <p:nvSpPr>
          <p:cNvPr id="11" name="Shape 9"/>
          <p:cNvSpPr/>
          <p:nvPr/>
        </p:nvSpPr>
        <p:spPr>
          <a:xfrm>
            <a:off x="685800" y="4495474"/>
            <a:ext cx="10820400" cy="1411357"/>
          </a:xfrm>
          <a:prstGeom prst="roundRect">
            <a:avLst>
              <a:gd name="adj" fmla="val 3239"/>
            </a:avLst>
          </a:prstGeom>
          <a:solidFill>
            <a:srgbClr val="3D1717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495474"/>
            <a:ext cx="76200" cy="1411357"/>
          </a:xfrm>
          <a:prstGeom prst="rect">
            <a:avLst/>
          </a:prstGeom>
          <a:solidFill>
            <a:srgbClr val="FCA5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609774"/>
            <a:ext cx="10363200" cy="2202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CA5A5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■  THIS BREAKS PRODUCTION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4868092"/>
            <a:ext cx="10363200" cy="88633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</a:t>
            </a:r>
            <a:r>
              <a:rPr lang="en-US" sz="153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subscriptions/listen</a:t>
            </a: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stream takes </a:t>
            </a:r>
            <a:r>
              <a:rPr lang="en-US" sz="153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</a:t>
            </a: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authorization decision, at open. An access token lives fifteen minutes. Minute 47 of that stream is serving data to a credential that expired half an hour ago — and your audit log's last entry still says </a:t>
            </a:r>
            <a:r>
              <a:rPr lang="en-US" sz="153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</a:t>
            </a:r>
            <a:r>
              <a:rPr lang="en-US" sz="153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1534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171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116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B: choose one stream mode</a:t>
            </a:r>
            <a:endParaRPr lang="en-US" sz="4116" dirty="0"/>
          </a:p>
        </p:txBody>
      </p:sp>
      <p:sp>
        <p:nvSpPr>
          <p:cNvPr id="7" name="Shape 5"/>
          <p:cNvSpPr/>
          <p:nvPr/>
        </p:nvSpPr>
        <p:spPr>
          <a:xfrm>
            <a:off x="685800" y="1743564"/>
            <a:ext cx="10820400" cy="1939229"/>
          </a:xfrm>
          <a:prstGeom prst="roundRect">
            <a:avLst>
              <a:gd name="adj" fmla="val 2829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43564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62614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Terminal B 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93144"/>
            <a:ext cx="10439400" cy="136391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Stop your proxy with Ctrl+C; run the bug mode: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$env:ENFORCE_STREAM_EXPIRY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6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'0'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node mcp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-auth-proxy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AFTER Terminal D's bug run: Ctrl+C here, then:</a:t>
            </a:r>
            <a:endParaRPr lang="en-US" sz="1764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64" dirty="0">
                <a:solidFill>
                  <a:srgbClr val="F3B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$env:ENFORCE_STREAM_EXPIRY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764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'1'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 node mcp</a:t>
            </a:r>
            <a:r>
              <a:rPr lang="en-US" sz="1764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-auth-proxy</a:t>
            </a:r>
            <a:r>
              <a:rPr lang="en-US" sz="1764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</a:t>
            </a:r>
            <a:endParaRPr lang="en-US" sz="1764" dirty="0"/>
          </a:p>
        </p:txBody>
      </p:sp>
      <p:sp>
        <p:nvSpPr>
          <p:cNvPr id="11" name="Shape 9"/>
          <p:cNvSpPr/>
          <p:nvPr/>
        </p:nvSpPr>
        <p:spPr>
          <a:xfrm>
            <a:off x="685800" y="3832145"/>
            <a:ext cx="10820400" cy="1477339"/>
          </a:xfrm>
          <a:prstGeom prst="roundRect">
            <a:avLst>
              <a:gd name="adj" fmla="val 3095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832145"/>
            <a:ext cx="76200" cy="1477339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946445"/>
            <a:ext cx="10363200" cy="3173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17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617" dirty="0"/>
          </a:p>
        </p:txBody>
      </p:sp>
      <p:sp>
        <p:nvSpPr>
          <p:cNvPr id="14" name="Text 12"/>
          <p:cNvSpPr/>
          <p:nvPr/>
        </p:nvSpPr>
        <p:spPr>
          <a:xfrm>
            <a:off x="914400" y="4301918"/>
            <a:ext cx="10363200" cy="855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21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server command blocks. Do not paste both starts together. Keep issuer A running; use D for the client while B holds the selected mode.</a:t>
            </a:r>
            <a:endParaRPr lang="en-US" sz="2211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bug run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enforced run</a:t>
            </a:r>
            <a:endParaRPr lang="en-US" sz="1275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101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043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03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Terminal D: measure both stream modes</a:t>
            </a:r>
            <a:endParaRPr lang="en-US" sz="4032" dirty="0"/>
          </a:p>
        </p:txBody>
      </p:sp>
      <p:sp>
        <p:nvSpPr>
          <p:cNvPr id="7" name="Shape 5"/>
          <p:cNvSpPr/>
          <p:nvPr/>
        </p:nvSpPr>
        <p:spPr>
          <a:xfrm>
            <a:off x="685800" y="1728509"/>
            <a:ext cx="10820400" cy="2224888"/>
          </a:xfrm>
          <a:prstGeom prst="roundRect">
            <a:avLst>
              <a:gd name="adj" fmla="val 2466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728509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47559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PowerShell - weeks\week08\samples - Terminal D 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POWERSHELL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78089"/>
            <a:ext cx="10439400" cy="164957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While B is in bug mode: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expiry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-mid-connection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--ttl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--watch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Switch B to enforced mode, then: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expiry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-mid-connection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.mjs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--ttl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--watch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72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72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Get-Content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.\transcripts\part6</a:t>
            </a:r>
            <a:r>
              <a:rPr lang="en-US" sz="1728" dirty="0">
                <a:solidFill>
                  <a:srgbClr val="FCD3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-expiry-bug</a:t>
            </a:r>
            <a:r>
              <a:rPr lang="en-US" sz="172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.txt</a:t>
            </a:r>
            <a:endParaRPr lang="en-US" sz="1728" dirty="0"/>
          </a:p>
        </p:txBody>
      </p:sp>
      <p:sp>
        <p:nvSpPr>
          <p:cNvPr id="11" name="Shape 9"/>
          <p:cNvSpPr/>
          <p:nvPr/>
        </p:nvSpPr>
        <p:spPr>
          <a:xfrm>
            <a:off x="685800" y="4099700"/>
            <a:ext cx="10820400" cy="1829346"/>
          </a:xfrm>
          <a:prstGeom prst="roundRect">
            <a:avLst>
              <a:gd name="adj" fmla="val 249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099700"/>
            <a:ext cx="76200" cy="1829346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214000"/>
            <a:ext cx="1036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84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84" dirty="0"/>
          </a:p>
        </p:txBody>
      </p:sp>
      <p:sp>
        <p:nvSpPr>
          <p:cNvPr id="14" name="Text 12"/>
          <p:cNvSpPr/>
          <p:nvPr/>
        </p:nvSpPr>
        <p:spPr>
          <a:xfrm>
            <a:off x="914400" y="4562996"/>
            <a:ext cx="10363200" cy="12136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16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Bug: heartbeats continue past expiry. Fix: token_expired and stream CLOSED. This is a synthetic Server-Sent Events (SSE) stream, not a full MCP subscription. Stop your A/B/C servers with Ctrl+C afterward.</a:t>
            </a:r>
            <a:endParaRPr lang="en-US" sz="2166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102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788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864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B: choose one stream mode</a:t>
            </a:r>
            <a:endParaRPr lang="en-US" sz="3864" dirty="0"/>
          </a:p>
        </p:txBody>
      </p:sp>
      <p:sp>
        <p:nvSpPr>
          <p:cNvPr id="7" name="Shape 5"/>
          <p:cNvSpPr/>
          <p:nvPr/>
        </p:nvSpPr>
        <p:spPr>
          <a:xfrm>
            <a:off x="685800" y="1698397"/>
            <a:ext cx="10820400" cy="2458608"/>
          </a:xfrm>
          <a:prstGeom prst="roundRect">
            <a:avLst>
              <a:gd name="adj" fmla="val 2232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98397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1717447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Terminal B 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147977"/>
            <a:ext cx="10439400" cy="188329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B: Ctrl+C, then restart the proxy with enforcement OFF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ENFORCE_STREAM_EXPIRY=0 \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MCP_UPSTREAM=http://127.0.0.1:8931/mcp node mcp-auth-proxy.mjs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B: Ctrl+C, then restart it enforced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ENFORCE_STREAM_EXPIRY=1 \</a:t>
            </a:r>
            <a:endParaRPr lang="en-US" sz="1656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656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 MCP_UPSTREAM=http://127.0.0.1:8931/mcp node mcp-auth-proxy.mjs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685800" y="4297214"/>
            <a:ext cx="10820400" cy="1411150"/>
          </a:xfrm>
          <a:prstGeom prst="roundRect">
            <a:avLst>
              <a:gd name="adj" fmla="val 3240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297214"/>
            <a:ext cx="76200" cy="141115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11514"/>
            <a:ext cx="10363200" cy="2979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18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518" dirty="0"/>
          </a:p>
        </p:txBody>
      </p:sp>
      <p:sp>
        <p:nvSpPr>
          <p:cNvPr id="14" name="Text 12"/>
          <p:cNvSpPr/>
          <p:nvPr/>
        </p:nvSpPr>
        <p:spPr>
          <a:xfrm>
            <a:off x="914400" y="4747556"/>
            <a:ext cx="10363200" cy="808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207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only one server command at a time. Use the next slide in D while B is running. After both measurements, Ctrl+C in your A, B and C windows.</a:t>
            </a:r>
            <a:endParaRPr lang="en-US" sz="2076" dirty="0"/>
          </a:p>
        </p:txBody>
      </p:sp>
      <p:sp>
        <p:nvSpPr>
          <p:cNvPr id="15" name="Shape 13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bug run</a:t>
            </a:r>
            <a:r>
              <a:rPr lang="en-US" sz="1275" dirty="0">
                <a:solidFill>
                  <a:srgbClr val="2F527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·  </a:t>
            </a: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Course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captured enforced run</a:t>
            </a:r>
            <a:endParaRPr lang="en-US" sz="1275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103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11896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61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macOS Terminal D: measure both stream modes</a:t>
            </a:r>
            <a:endParaRPr lang="en-US" sz="3612" dirty="0"/>
          </a:p>
        </p:txBody>
      </p:sp>
      <p:sp>
        <p:nvSpPr>
          <p:cNvPr id="7" name="Shape 5"/>
          <p:cNvSpPr/>
          <p:nvPr/>
        </p:nvSpPr>
        <p:spPr>
          <a:xfrm>
            <a:off x="685800" y="2202323"/>
            <a:ext cx="10820400" cy="2062582"/>
          </a:xfrm>
          <a:prstGeom prst="roundRect">
            <a:avLst>
              <a:gd name="adj" fmla="val 2660"/>
            </a:avLst>
          </a:prstGeom>
          <a:solidFill>
            <a:srgbClr val="050F1A"/>
          </a:solidFill>
          <a:ln w="12700">
            <a:solidFill>
              <a:srgbClr val="5B82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02323"/>
            <a:ext cx="10820400" cy="323850"/>
          </a:xfrm>
          <a:prstGeom prst="rect">
            <a:avLst/>
          </a:prstGeom>
          <a:solidFill>
            <a:srgbClr val="0B1B2B"/>
          </a:solidFill>
          <a:ln w="12700">
            <a:solidFill>
              <a:srgbClr val="050F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38200" y="2221373"/>
            <a:ext cx="105156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bash or zsh - weeks/week08/samples - Terminal D only</a:t>
            </a:r>
            <a:r>
              <a:rPr lang="en-US" sz="1275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BASH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76300" y="2651903"/>
            <a:ext cx="10439400" cy="148727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While B is in bug mode: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expiry-mid-connection.mjs --ttl 6 --watch 14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9FB6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 Switch B to enforced mode, then: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 expiry-mid-connection.mjs --ttl 8 --watch 22</a:t>
            </a:r>
            <a:endParaRPr lang="en-US" sz="1548" dirty="0"/>
          </a:p>
          <a:p>
            <a:pPr indent="0" marL="0">
              <a:lnSpc>
                <a:spcPct val="121368"/>
              </a:lnSpc>
              <a:buNone/>
            </a:pPr>
            <a:r>
              <a:rPr lang="en-US" sz="1548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</a:t>
            </a:r>
            <a:r>
              <a:rPr lang="en-US" sz="1548" dirty="0">
                <a:solidFill>
                  <a:srgbClr val="E8F1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 -n 40 ./transcripts/part6-expiry-bug.txt</a:t>
            </a:r>
            <a:endParaRPr lang="en-US" sz="1548" dirty="0"/>
          </a:p>
        </p:txBody>
      </p:sp>
      <p:sp>
        <p:nvSpPr>
          <p:cNvPr id="11" name="Shape 9"/>
          <p:cNvSpPr/>
          <p:nvPr/>
        </p:nvSpPr>
        <p:spPr>
          <a:xfrm>
            <a:off x="685800" y="4395969"/>
            <a:ext cx="10820400" cy="1344960"/>
          </a:xfrm>
          <a:prstGeom prst="roundRect">
            <a:avLst>
              <a:gd name="adj" fmla="val 3399"/>
            </a:avLst>
          </a:prstGeom>
          <a:solidFill>
            <a:srgbClr val="0E3A38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4395969"/>
            <a:ext cx="76200" cy="134496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510269"/>
            <a:ext cx="10363200" cy="2785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19" b="1" spc="100" kern="0" dirty="0">
                <a:solidFill>
                  <a:srgbClr val="5EEAD4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◆  KEY IDEA</a:t>
            </a:r>
            <a:endParaRPr lang="en-US" sz="1419" dirty="0"/>
          </a:p>
        </p:txBody>
      </p:sp>
      <p:sp>
        <p:nvSpPr>
          <p:cNvPr id="14" name="Text 12"/>
          <p:cNvSpPr/>
          <p:nvPr/>
        </p:nvSpPr>
        <p:spPr>
          <a:xfrm>
            <a:off x="914400" y="4826880"/>
            <a:ext cx="10363200" cy="7616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94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first stream outlives its credential; the second emits token_expired and closes. This synthetic Server-Sent Events (SSE) test needs the issuer and proxy.</a:t>
            </a:r>
            <a:endParaRPr lang="en-US" sz="194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07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Sessions and MCP auth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104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85800" y="1428750"/>
            <a:ext cx="2667000" cy="400050"/>
          </a:xfrm>
          <a:prstGeom prst="roundRect">
            <a:avLst>
              <a:gd name="adj" fmla="val 114286"/>
            </a:avLst>
          </a:prstGeom>
          <a:solidFill>
            <a:srgbClr val="071320"/>
          </a:solidFill>
          <a:ln w="25400">
            <a:solidFill>
              <a:srgbClr val="FCD3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28750"/>
            <a:ext cx="2667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25" b="1" spc="2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◇  ACTIVE CHECKPOINT</a:t>
            </a:r>
            <a:endParaRPr lang="en-US" sz="1425" dirty="0"/>
          </a:p>
        </p:txBody>
      </p:sp>
      <p:sp>
        <p:nvSpPr>
          <p:cNvPr id="8" name="Text 6"/>
          <p:cNvSpPr/>
          <p:nvPr/>
        </p:nvSpPr>
        <p:spPr>
          <a:xfrm>
            <a:off x="3505200" y="1428750"/>
            <a:ext cx="8001000" cy="400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  ·  Individual (4 min) → cold call (3 min) → debrief (3 min)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2038350"/>
            <a:ext cx="10820400" cy="11640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528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Your MCP server has four tools. Write the policy table — and defend two rows.</a:t>
            </a:r>
            <a:endParaRPr lang="en-US" sz="3528" dirty="0"/>
          </a:p>
        </p:txBody>
      </p:sp>
      <p:sp>
        <p:nvSpPr>
          <p:cNvPr id="10" name="Text 8"/>
          <p:cNvSpPr/>
          <p:nvPr/>
        </p:nvSpPr>
        <p:spPr>
          <a:xfrm>
            <a:off x="685800" y="3298448"/>
            <a:ext cx="1082040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1"/>
            </a:pP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list_service_status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(read) ·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get_incident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(read) ·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post_incident_update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(writes) · </a:t>
            </a: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delete_incident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(destructive, added tomorrow)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2"/>
            </a:pP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scopes exist, and which tool needs which?</a:t>
            </a:r>
            <a:endParaRPr lang="en-US" sz="2016" dirty="0"/>
          </a:p>
          <a:p>
            <a:pPr algn="l" marL="342900" indent="-342900">
              <a:lnSpc>
                <a:spcPct val="105263"/>
              </a:lnSpc>
              <a:spcAft>
                <a:spcPts val="504"/>
              </a:spcAft>
              <a:buSzPct val="100000"/>
              <a:buFont typeface="+mj-lt"/>
              <a:buAutoNum type="arabicPeriod" startAt="3"/>
            </a:pPr>
            <a:r>
              <a:rPr lang="en-US" sz="2016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delete_incident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ships tomorrow and nobody updates the table. What happens — and what </a:t>
            </a:r>
            <a:r>
              <a:rPr lang="en-US" sz="2016" i="1" dirty="0">
                <a:solidFill>
                  <a:srgbClr val="FCD34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should</a:t>
            </a:r>
            <a:r>
              <a:rPr lang="en-US" sz="2016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happen?</a:t>
            </a:r>
            <a:endParaRPr lang="en-US" sz="2016" dirty="0"/>
          </a:p>
        </p:txBody>
      </p:sp>
      <p:sp>
        <p:nvSpPr>
          <p:cNvPr id="11" name="Shape 9"/>
          <p:cNvSpPr/>
          <p:nvPr/>
        </p:nvSpPr>
        <p:spPr>
          <a:xfrm>
            <a:off x="685800" y="5867400"/>
            <a:ext cx="10820400" cy="9525"/>
          </a:xfrm>
          <a:prstGeom prst="rect">
            <a:avLst/>
          </a:prstGeom>
          <a:solidFill>
            <a:srgbClr val="2F52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924550"/>
            <a:ext cx="10820400" cy="3238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275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— </a:t>
            </a:r>
            <a:r>
              <a:rPr lang="en-US" sz="1275" u="sng" dirty="0">
                <a:solidFill>
                  <a:srgbClr val="93C5FD"/>
                </a:solidFill>
                <a:latin typeface="Segoe UI" pitchFamily="34" charset="0"/>
                <a:ea typeface="Segoe UI" pitchFamily="34" charset="-122"/>
                <a:cs typeface="Segoe U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Scope selection and step-up authorization, spec 2026-07-28</a:t>
            </a:r>
            <a:endParaRPr lang="en-US" sz="1275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Individual practice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105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5766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192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What you are doing in the next 35 minutes</a:t>
            </a:r>
            <a:endParaRPr lang="en-US" sz="3192" dirty="0"/>
          </a:p>
        </p:txBody>
      </p:sp>
      <p:sp>
        <p:nvSpPr>
          <p:cNvPr id="7" name="Text 5"/>
          <p:cNvSpPr/>
          <p:nvPr/>
        </p:nvSpPr>
        <p:spPr>
          <a:xfrm>
            <a:off x="685800" y="1577953"/>
            <a:ext cx="10820400" cy="27090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Walk an OIDC redirect with PKCE, then break it on purpose and read the error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 a real token against a live JWKS; tamper with one claim; watch it fail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Present wrong-audience, expired, and insufficient-scope tokens — read 401 vs 403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the proxy in front of </a:t>
            </a: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Week 7 MCP server</a:t>
            </a: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watch </a:t>
            </a: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401 → 200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Deny a viewer's </a:t>
            </a:r>
            <a:r>
              <a:rPr lang="en-US" sz="1824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post_incident_update</a:t>
            </a: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then allow an operator's</a:t>
            </a:r>
            <a:endParaRPr lang="en-US" sz="1824" dirty="0"/>
          </a:p>
          <a:p>
            <a:pPr algn="l" marL="342900" indent="-342900">
              <a:lnSpc>
                <a:spcPct val="105263"/>
              </a:lnSpc>
              <a:spcAft>
                <a:spcPts val="456"/>
              </a:spcAft>
              <a:buSzPct val="100000"/>
              <a:buChar char="▪"/>
            </a:pPr>
            <a:r>
              <a:rPr lang="en-US" sz="1824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Evidence:</a:t>
            </a:r>
            <a:r>
              <a:rPr lang="en-US" sz="1824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redirect every terminal's output as you go — six of HW7's fourteen required artifacts are done before you leave the room</a:t>
            </a:r>
            <a:endParaRPr lang="en-US" sz="1824" dirty="0"/>
          </a:p>
        </p:txBody>
      </p:sp>
      <p:sp>
        <p:nvSpPr>
          <p:cNvPr id="8" name="Shape 6"/>
          <p:cNvSpPr/>
          <p:nvPr/>
        </p:nvSpPr>
        <p:spPr>
          <a:xfrm>
            <a:off x="685800" y="4388361"/>
            <a:ext cx="10820400" cy="1530782"/>
          </a:xfrm>
          <a:prstGeom prst="roundRect">
            <a:avLst>
              <a:gd name="adj" fmla="val 2987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388361"/>
            <a:ext cx="76200" cy="1530782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02661"/>
            <a:ext cx="10363200" cy="2461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4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254" dirty="0"/>
          </a:p>
        </p:txBody>
      </p:sp>
      <p:sp>
        <p:nvSpPr>
          <p:cNvPr id="11" name="Text 9"/>
          <p:cNvSpPr/>
          <p:nvPr/>
        </p:nvSpPr>
        <p:spPr>
          <a:xfrm>
            <a:off x="914400" y="4786887"/>
            <a:ext cx="10363200" cy="979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71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Four terminals: issuer (9100), proxy (8930), Week 7 server (8931), and client. Restarting the authorization server mints a </a:t>
            </a:r>
            <a:r>
              <a:rPr lang="en-US" sz="1715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</a:t>
            </a:r>
            <a:r>
              <a:rPr lang="en-US" sz="171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signing key, so every token issued before it is instantly stale.</a:t>
            </a:r>
            <a:endParaRPr lang="en-US" sz="1715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Homework brief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106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60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336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HW7 — Claims Forensics and MCP Authorization</a:t>
            </a:r>
            <a:endParaRPr lang="en-US" sz="3360" dirty="0"/>
          </a:p>
        </p:txBody>
      </p:sp>
      <p:sp>
        <p:nvSpPr>
          <p:cNvPr id="7" name="Text 5"/>
          <p:cNvSpPr/>
          <p:nvPr/>
        </p:nvSpPr>
        <p:spPr>
          <a:xfrm>
            <a:off x="685800" y="1608064"/>
            <a:ext cx="1082040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points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due before Week 9 · satisfies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6 — Authorized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Prove — with transcripts, not assertions — that your validator rejects the tokens it should, and that your Week 7 MCP server now refuses unauthorized calls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Deliverables: a sequence diagram from </a:t>
            </a:r>
            <a:r>
              <a:rPr lang="en-US" sz="19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</a:t>
            </a: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provider's real endpoints, five negative-test transcripts, a claims matrix, and the MCP server behind OAuth with per-tool scopes and a captured denial</a:t>
            </a:r>
            <a:endParaRPr lang="en-US" sz="1920" dirty="0"/>
          </a:p>
          <a:p>
            <a:pPr algn="l" marL="342900" indent="-342900">
              <a:lnSpc>
                <a:spcPct val="105263"/>
              </a:lnSpc>
              <a:spcAft>
                <a:spcPts val="480"/>
              </a:spcAft>
              <a:buSzPct val="100000"/>
              <a:buChar char="▪"/>
            </a:pPr>
            <a:r>
              <a:rPr lang="en-US" sz="192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handout: </a:t>
            </a:r>
            <a:r>
              <a:rPr lang="en-US" sz="1920" u="sng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weeks/week08/homework.md</a:t>
            </a:r>
            <a:endParaRPr lang="en-US" sz="1920" dirty="0"/>
          </a:p>
        </p:txBody>
      </p:sp>
      <p:sp>
        <p:nvSpPr>
          <p:cNvPr id="8" name="Shape 6"/>
          <p:cNvSpPr/>
          <p:nvPr/>
        </p:nvSpPr>
        <p:spPr>
          <a:xfrm>
            <a:off x="685800" y="4439656"/>
            <a:ext cx="10820400" cy="1278770"/>
          </a:xfrm>
          <a:prstGeom prst="roundRect">
            <a:avLst>
              <a:gd name="adj" fmla="val 3575"/>
            </a:avLst>
          </a:prstGeom>
          <a:solidFill>
            <a:srgbClr val="3A2E0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439656"/>
            <a:ext cx="76200" cy="1278770"/>
          </a:xfrm>
          <a:prstGeom prst="rect">
            <a:avLst/>
          </a:prstGeom>
          <a:solidFill>
            <a:srgbClr val="FCD3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53956"/>
            <a:ext cx="10363200" cy="259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20" b="1" spc="100" kern="0" dirty="0">
                <a:solidFill>
                  <a:srgbClr val="FCD34D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▲  WATCH OUT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914400" y="4851136"/>
            <a:ext cx="10363200" cy="7148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2256"/>
              </a:lnSpc>
              <a:buNone/>
            </a:pPr>
            <a:r>
              <a:rPr lang="en-US" sz="1805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Submitting a usable token is −20 and a mandatory resubmission with rotation evidence. Redact, do not crop — keep the shape.</a:t>
            </a:r>
            <a:endParaRPr lang="en-US" sz="1805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5250" cy="6858000"/>
          </a:xfrm>
          <a:prstGeom prst="rect">
            <a:avLst/>
          </a:prstGeom>
          <a:solidFill>
            <a:srgbClr val="5EEA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285750"/>
            <a:ext cx="8572500" cy="2857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W08·C</a:t>
            </a:r>
            <a:r>
              <a:rPr lang="en-US" sz="1350" spc="120" kern="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Closing logistics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85800" y="6286500"/>
            <a:ext cx="72390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CSC 436 — Web Application Systems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525000" y="6286500"/>
            <a:ext cx="1981200" cy="266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107</a:t>
            </a:r>
            <a:r>
              <a:rPr lang="en-US" sz="1350" dirty="0">
                <a:solidFill>
                  <a:srgbClr val="B6CCD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/ 107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914400"/>
            <a:ext cx="10820400" cy="729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F3F8FC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Before you leave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85800" y="1758620"/>
            <a:ext cx="10820400" cy="3307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Exit ticket: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name one check your resource server performs that would still reject a genuine, correctly-signed, unexpired token from your own tenant — and say why that is not paranoia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Revisit your HW6 attacker list. HW8 will test which attacks your authorization now blocks</a:t>
            </a:r>
            <a:endParaRPr lang="en-US" sz="2400" dirty="0"/>
          </a:p>
          <a:p>
            <a:pPr algn="l" marL="342900" indent="-342900">
              <a:lnSpc>
                <a:spcPct val="105263"/>
              </a:lnSpc>
              <a:spcAft>
                <a:spcPts val="600"/>
              </a:spcAft>
              <a:buSzPct val="100000"/>
              <a:buChar char="▪"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 9 prep is posted</a:t>
            </a:r>
            <a:r>
              <a:rPr lang="en-US" sz="2400" dirty="0">
                <a:solidFill>
                  <a:srgbClr val="F3F8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— next week attacks the system you just authorized</a:t>
            </a:r>
            <a:endParaRPr lang="en-US" sz="2400" dirty="0"/>
          </a:p>
        </p:txBody>
      </p:sp>
    </p:spTree>
  </p:cSld>
  <p:clrMapOvr>
    <a:masterClrMapping/>
  </p:clrMapOvr>
</p:sld>
</file>

<file path=ppt/theme/notesTheme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107</Slides>
  <Notes>107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107</vt:i4>
      </vt:variant>
    </vt:vector>
  </HeadingPairs>
  <TitlesOfParts>
    <vt:vector size="1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</vt:vector>
  </TitlesOfParts>
  <Company>DePaul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Identity: OAuth, OIDC, Claims — and Authorizing the MCP Server — Week 8 Full session</dc:title>
  <dc:subject>Review, preparation, logistics, teaching, individual practice, and the end-of-class brief</dc:subject>
  <dc:creator>Course staff</dc:creator>
  <cp:lastModifiedBy>Course staff</cp:lastModifiedBy>
  <cp:revision>1</cp:revision>
  <dcterms:created xsi:type="dcterms:W3CDTF">2026-10-29T22:48:37Z</dcterms:created>
  <dcterms:modified xsi:type="dcterms:W3CDTF">2026-10-29T22:48:37Z</dcterms:modified>
</cp:coreProperties>
</file>