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OWASP — [Session Management Cheat Sheet](https://cheatsheetseries.owasp.org/cheatsheets/Session_Management_Cheat_Sheet.html)
MDN — [`Set-Cookie` and its attributes](https://developer.mozilla.org/en-US/docs/Web/HTTP/Reference/Headers/Set-Cookie)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7009, Token Revocation](https://www.rfc-editor.org/rfc/rfc7009.html)
OpenID Foundation — [RP-Initiated Logout](https://openid.net/specs/openid-connect-rpinitiated-1_0.html)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9700, OAuth 2.0 Security Best Current Practice](https://www.rfc-editor.org/rfc/rfc9700.html)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MCP — [Authorization, specification 2026-07-28](https://modelcontextprotocol.io/specification/2026-07-28/basic/authorization)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[Week 8 lab, Parts 0 and 5](../lab.md)
Course — [authorization proxy](../samples/mcp-auth-proxy.mjs)
Course — [Every server/client command and recovery step](../samples/README.md)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A:
cd weeks\week08\samples
$env:PORT='9100'; node authz-server.mjs
# B:
cd weeks\week08\samples
$env:MCP_UPSTREAM='http://127.0.0.1:8931/mcp'
$env:PORT='8930'; node mcp-auth-proxy.mjs
SOURCES:
Course — [Week 8 lab, Part 0](../lab.md)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A:
cd weeks/week08/samples
PORT=9100 node authz-server.mjs
# B:
cd weeks/week08/samples
PORT=8930 MCP_UPSTREAM=http://127.0.0.1:8931/mcp node mcp-auth-proxy.mjs
SOURCES:
Course — [Week 8 lab, Part 0](../lab.md)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samples\mcp-starter
npm ci                      # before class
npm run build               # before class
$env:MCP_HOST='127.0.0.1'; $env:PORT='8931'
$env:DATABASE_URL=$null
npm run start:http
SOURCES:
Course — [starter quick start](../../../samples/mcp-starter/README.md)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samples/mcp-starter
npm ci                      # before class
npm run build               # before class
MCP_HOST=127.0.0.1 PORT=8931 env -u DATABASE_URL npm run start:http
SOURCES:
Course — [starter quick start](../../../samples/mcp-starter/README.md)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weeks\week08\samples
$proxy = 'http://127.0.0.1:8930'
curl.exe --noproxy '*' -sS -i --max-time 10 "$proxy/mcp" -d "{}" `
  -H "content-type: application/json" -H "Mcp-Method: tools/call" `
  -H "Mcp-Name: post_incident_update" `
  -H "Mcp-Protocol-Version: 2026-07-28"
curl.exe --noproxy '*' -sS --max-time 10 `
  "$proxy/.well-known/oauth-protected-resource"
SOURCES: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weeks/week08/samples
PROXY=http://127.0.0.1:8930
curl -sS -i --noproxy '*' --max-time 10 "$PROXY/mcp" -d '{}' \
  -H "content-type: application/json" -H "Mcp-Method: tools/call" \
  -H "Mcp-Name: post_incident_update" \
  -H "Mcp-Protocol-Version: 2026-07-28"
curl -sS --noproxy '*' --max-time 10 \
  "$PROXY/.well-known/oauth-protected-resource"
SOURCES: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mcp-client-walk.mjs
node mcp-client-walk.mjs --tool post_incident_update
node mcp-client-walk.mjs --tool post_incident_update `
  --login-as operator
node mcp-client-walk.mjs --tool get_incident
SOURCES:
Course — [local MCP authorization walk](../samples/mcp-client-walk.mjs)
Course — [real-provider integration and limits](../provider-integration.md)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mcp-client-walk.mjs
node mcp-client-walk.mjs --tool post_incident_update
node mcp-client-walk.mjs --tool post_incident_update \
  --login-as operator
node mcp-client-walk.mjs --tool get_incident
SOURCES:
Course — [local MCP authorization walk](../samples/mcp-client-walk.mjs)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MCP — [Authorization, specification 2026-07-28](https://modelcontextprotocol.io/specification/2026-07-28/basic/authorization)
Course — [captured walks](../samples/transcripts/part5-viewer-write-denied.txt)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Stop your proxy with Ctrl+C; run the bug mode:
$env:ENFORCE_STREAM_EXPIRY='0'; node mcp-auth-proxy.mjs
# AFTER Terminal D's bug run: Ctrl+C here, then:
$env:ENFORCE_STREAM_EXPIRY='1'; node mcp-auth-proxy.mjs
SOURCES:
Course — [captured bug run](../samples/transcripts/part6-expiry-bug.txt)
Course — [captured enforced run](../samples/transcripts/part6-expiry-enforced.txt)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While B is in bug mode:
node expiry-mid-connection.mjs --ttl 6 --watch 14
# Switch B to enforced mode, then:
node expiry-mid-connection.mjs --ttl 8 --watch 22
Get-Content .\transcripts\part6-expiry-bug.txt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B: Ctrl+C, then restart the proxy with enforcement OFF
ENFORCE_STREAM_EXPIRY=0 \
  MCP_UPSTREAM=http://127.0.0.1:8931/mcp node mcp-auth-proxy.mjs
# B: Ctrl+C, then restart it enforced
ENFORCE_STREAM_EXPIRY=1 \
  MCP_UPSTREAM=http://127.0.0.1:8931/mcp node mcp-auth-proxy.mjs
SOURCES:
Course — [captured bug run](../samples/transcripts/part6-expiry-bug.txt)
Course — [captured enforced run](../samples/transcripts/part6-expiry-enforced.txt)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While B is in bug mode:
node expiry-mid-connection.mjs --ttl 6 --watch 14
# Switch B to enforced mode, then:
node expiry-mid-connection.mjs --ttl 8 --watch 22
head -n 40 ./transcripts/part6-expiry-bug.txt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MCP — [Scope selection and step-up authorization, spec 2026-07-28](https://modelcontextprotocol.io/specification/2026-07-28/basic/authorization)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Session_Management_Cheat_Sheet.html" TargetMode="External"/><Relationship Id="rId2" Type="http://schemas.openxmlformats.org/officeDocument/2006/relationships/hyperlink" Target="https://developer.mozilla.org/en-US/docs/Web/HTTP/Reference/Headers/Set-Cooki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009.html" TargetMode="External"/><Relationship Id="rId2" Type="http://schemas.openxmlformats.org/officeDocument/2006/relationships/hyperlink" Target="https://openid.net/specs/openid-connect-rpinitiated-1_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hyperlink" Target="https://www.rfc-editor.org/rfc/rfc972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mcp-auth-proxy.mjs" TargetMode="External"/><Relationship Id="rId3" Type="http://schemas.openxmlformats.org/officeDocument/2006/relationships/hyperlink" Target="../samples/READM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mcp-starter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mcp-starter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2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2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mcp-client-walk.mjs" TargetMode="External"/><Relationship Id="rId2" Type="http://schemas.openxmlformats.org/officeDocument/2006/relationships/hyperlink" Target="../provider-integration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mcp-client-walk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hyperlink" Target="../samples/transcripts/part5-viewer-write-deni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6-expiry-bug.txt" TargetMode="External"/><Relationship Id="rId2" Type="http://schemas.openxmlformats.org/officeDocument/2006/relationships/hyperlink" Target="../samples/transcripts/part6-expiry-enforc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6-expiry-bug.txt" TargetMode="External"/><Relationship Id="rId2" Type="http://schemas.openxmlformats.org/officeDocument/2006/relationships/hyperlink" Target="../samples/transcripts/part6-expiry-enforc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Sessions, authorization decisions, and MCP auth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token lives, where the decision belongs, and what OAuth looks like in front of the server you built last week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8 · Block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2026-10-29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browser-session vocabulary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pieces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270691"/>
            <a:ext cx="5219700" cy="3672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Single-Page Application; browser JavaScript renders the interface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BFF: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Backend-for-Frontend; a server handling identity and API calls for the browser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/ cookie: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server's visit record / browser-stored value sent with requests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Boundaries to protect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270691"/>
            <a:ext cx="521970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Cross-Site Scripting; unwanted code running in your page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Cross-Site Request Forgery; another site inducing a request with your cookies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/ AS: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 Context Protocol / authorization server</a:t>
            </a:r>
            <a:endParaRPr lang="en-US" sz="211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visible tool can still be denied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is a viewer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927425"/>
            <a:ext cx="5219700" cy="2657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client has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host can still discover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chooses that tool after she asks for a summary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server owns the decision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6286500" y="2927425"/>
            <a:ext cx="5219700" cy="3049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scope is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policy also requires the operator role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returns 403 and audits actor, tool, object, and reason</a:t>
            </a:r>
            <a:endParaRPr lang="en-US" sz="220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Scopes and roles answer different questions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— what the </a:t>
            </a:r>
            <a:r>
              <a:rPr lang="en-US" sz="1665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</a:t>
            </a: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may do</a:t>
            </a:r>
            <a:endParaRPr lang="en-US" sz="1665" dirty="0"/>
          </a:p>
        </p:txBody>
      </p:sp>
      <p:sp>
        <p:nvSpPr>
          <p:cNvPr id="8" name="Text 6"/>
          <p:cNvSpPr/>
          <p:nvPr/>
        </p:nvSpPr>
        <p:spPr>
          <a:xfrm>
            <a:off x="685800" y="2845283"/>
            <a:ext cx="5219700" cy="2527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 by the client, granted by </a:t>
            </a: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authorization-server policy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 in the token: </a:t>
            </a: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 "campuspulse.read"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Bounds the client, not the human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Coarse by design — a handful, not hundreds</a:t>
            </a:r>
            <a:endParaRPr lang="en-US" sz="1776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 — what the </a:t>
            </a:r>
            <a:r>
              <a:rPr lang="en-US" sz="1665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may do</a:t>
            </a:r>
            <a:endParaRPr lang="en-US" sz="1665" dirty="0"/>
          </a:p>
        </p:txBody>
      </p:sp>
      <p:sp>
        <p:nvSpPr>
          <p:cNvPr id="10" name="Text 8"/>
          <p:cNvSpPr/>
          <p:nvPr/>
        </p:nvSpPr>
        <p:spPr>
          <a:xfrm>
            <a:off x="6286500" y="2845283"/>
            <a:ext cx="5219700" cy="1523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out of band, by an admin or a group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 in </a:t>
            </a: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in your database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Bounds the human, not the client</a:t>
            </a:r>
            <a:endParaRPr lang="en-US" sz="1776" dirty="0"/>
          </a:p>
        </p:txBody>
      </p:sp>
      <p:sp>
        <p:nvSpPr>
          <p:cNvPr id="11" name="Shape 9"/>
          <p:cNvSpPr/>
          <p:nvPr/>
        </p:nvSpPr>
        <p:spPr>
          <a:xfrm>
            <a:off x="6286500" y="4467657"/>
            <a:ext cx="5219700" cy="1500926"/>
          </a:xfrm>
          <a:prstGeom prst="roundRect">
            <a:avLst>
              <a:gd name="adj" fmla="val 304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467657"/>
            <a:ext cx="76200" cy="150092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0" y="4581957"/>
            <a:ext cx="47625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6515100" y="4859706"/>
            <a:ext cx="4762500" cy="956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effective permission is the </a:t>
            </a:r>
            <a:r>
              <a:rPr lang="en-US" sz="166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intersection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operator on a read-only client still may not post.</a:t>
            </a:r>
            <a:endParaRPr lang="en-US" sz="16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Roles, attributes, and where to check them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2253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(RBAC):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user an operator?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Attribute-Based Access Control (ABAC):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assigned to this incident?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checks help the interface, but an attacker can skip them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checks control entry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Resource-server checks protect the data and individual objects</a:t>
            </a:r>
            <a:endParaRPr lang="en-US" sz="2064" dirty="0"/>
          </a:p>
        </p:txBody>
      </p:sp>
      <p:sp>
        <p:nvSpPr>
          <p:cNvPr id="8" name="Shape 6"/>
          <p:cNvSpPr/>
          <p:nvPr/>
        </p:nvSpPr>
        <p:spPr>
          <a:xfrm>
            <a:off x="685800" y="4571000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71000"/>
            <a:ext cx="76200" cy="13449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85300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419" dirty="0"/>
          </a:p>
        </p:txBody>
      </p:sp>
      <p:sp>
        <p:nvSpPr>
          <p:cNvPr id="11" name="Text 9"/>
          <p:cNvSpPr/>
          <p:nvPr/>
        </p:nvSpPr>
        <p:spPr>
          <a:xfrm>
            <a:off x="914400" y="5001911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hidden React button improves the user experience; it is not a permission check. The server must also reject a request typed directly into a terminal.</a:t>
            </a:r>
            <a:endParaRPr lang="en-US" sz="1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the browser keep the token?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03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9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in the SPA</a:t>
            </a:r>
            <a:endParaRPr lang="en-US" sz="1395" dirty="0"/>
          </a:p>
        </p:txBody>
      </p:sp>
      <p:sp>
        <p:nvSpPr>
          <p:cNvPr id="8" name="Text 6"/>
          <p:cNvSpPr/>
          <p:nvPr/>
        </p:nvSpPr>
        <p:spPr>
          <a:xfrm>
            <a:off x="685800" y="2790522"/>
            <a:ext cx="5219700" cy="10268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any script can read it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— gone on refresh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can read tokens and make requests as the user</a:t>
            </a:r>
            <a:endParaRPr lang="en-US" sz="148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03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9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Backend-for-Frontend</a:t>
            </a:r>
            <a:endParaRPr lang="en-US" sz="1395" dirty="0"/>
          </a:p>
        </p:txBody>
      </p:sp>
      <p:sp>
        <p:nvSpPr>
          <p:cNvPr id="10" name="Text 8"/>
          <p:cNvSpPr/>
          <p:nvPr/>
        </p:nvSpPr>
        <p:spPr>
          <a:xfrm>
            <a:off x="6286500" y="2790522"/>
            <a:ext cx="5219700" cy="1291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live </a:t>
            </a: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gets a random session-ID cookie, not the token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logout deletes the server's session record</a:t>
            </a:r>
            <a:endParaRPr lang="en-US" sz="1488" dirty="0"/>
          </a:p>
        </p:txBody>
      </p:sp>
      <p:sp>
        <p:nvSpPr>
          <p:cNvPr id="11" name="Shape 9"/>
          <p:cNvSpPr/>
          <p:nvPr/>
        </p:nvSpPr>
        <p:spPr>
          <a:xfrm>
            <a:off x="6286500" y="4164637"/>
            <a:ext cx="5219700" cy="1321788"/>
          </a:xfrm>
          <a:prstGeom prst="roundRect">
            <a:avLst>
              <a:gd name="adj" fmla="val 34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164637"/>
            <a:ext cx="76200" cy="132178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0" y="4278937"/>
            <a:ext cx="4762500" cy="200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5100" y="4517824"/>
            <a:ext cx="4762500" cy="816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3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 blocks cookie reading, not requests. A BFF reduces token theft, but does not make XSS harmless.</a:t>
            </a:r>
            <a:endParaRPr lang="en-US" sz="139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 Management Cheat Sheet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Set-Cookie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its attributes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cookie settings actually do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1741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page scripts cannot read the cookie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 only over encrypted HTTPS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SameSite=Lax: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restrict cross-site sending; still use CSRF checks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in, reload, then sign out: the session survives reload but not local logout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3473484"/>
            <a:ext cx="10820400" cy="977295"/>
          </a:xfrm>
          <a:prstGeom prst="roundRect">
            <a:avLst>
              <a:gd name="adj" fmla="val 5614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473484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349253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Course-content root - reuse Block A's installed demo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SHELL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3923064"/>
            <a:ext cx="10439400" cy="4019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722" dirty="0"/>
          </a:p>
        </p:txBody>
      </p:sp>
      <p:sp>
        <p:nvSpPr>
          <p:cNvPr id="12" name="Shape 10"/>
          <p:cNvSpPr/>
          <p:nvPr/>
        </p:nvSpPr>
        <p:spPr>
          <a:xfrm>
            <a:off x="685800" y="4575748"/>
            <a:ext cx="10820400" cy="1300833"/>
          </a:xfrm>
          <a:prstGeom prst="roundRect">
            <a:avLst>
              <a:gd name="adj" fmla="val 351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575748"/>
            <a:ext cx="76200" cy="13008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90048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5" name="Text 13"/>
          <p:cNvSpPr/>
          <p:nvPr/>
        </p:nvSpPr>
        <p:spPr>
          <a:xfrm>
            <a:off x="914400" y="4993705"/>
            <a:ext cx="10363200" cy="73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A's launcher starts client backend, provider and resource together. Its HTTP loopback mode uses a separate development cookie, never a production setting.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Refresh, revoke, log out — three different things</a:t>
            </a:r>
            <a:endParaRPr lang="en-US" sz="3024" dirty="0"/>
          </a:p>
        </p:txBody>
      </p:sp>
      <p:sp>
        <p:nvSpPr>
          <p:cNvPr id="7" name="Text 5"/>
          <p:cNvSpPr/>
          <p:nvPr/>
        </p:nvSpPr>
        <p:spPr>
          <a:xfrm>
            <a:off x="685800" y="1547841"/>
            <a:ext cx="10820400" cy="2170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exchange a refresh token for a new access token, ahead of </a:t>
            </a: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each refresh returns a </a:t>
            </a:r>
            <a:r>
              <a:rPr lang="en-US" sz="17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refresh token; the old one dies</a:t>
            </a:r>
            <a:endParaRPr lang="en-US" sz="1728" dirty="0"/>
          </a:p>
          <a:p>
            <a:pPr algn="l" lvl="1" marL="685800" indent="-342900">
              <a:lnSpc>
                <a:spcPct val="105263"/>
              </a:lnSpc>
              <a:spcAft>
                <a:spcPts val="432"/>
              </a:spcAft>
              <a:buSzPct val="100000"/>
              <a:buChar char="–"/>
            </a:pPr>
            <a:r>
              <a:rPr lang="en-US" sz="15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can mean theft or a retry race; our provider </a:t>
            </a:r>
            <a:r>
              <a:rPr lang="en-US" sz="15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revokes the family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Revocation: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RFC 7009 </a:t>
            </a: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/revoke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invalidates the token you present, and the AS </a:t>
            </a:r>
            <a:r>
              <a:rPr lang="en-US" sz="17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revoke related grants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Logout: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 your app's session; provider sign-out is a separate step</a:t>
            </a:r>
            <a:endParaRPr lang="en-US" sz="1728" dirty="0"/>
          </a:p>
        </p:txBody>
      </p:sp>
      <p:sp>
        <p:nvSpPr>
          <p:cNvPr id="8" name="Shape 6"/>
          <p:cNvSpPr/>
          <p:nvPr/>
        </p:nvSpPr>
        <p:spPr>
          <a:xfrm>
            <a:off x="685800" y="3814639"/>
            <a:ext cx="10820400" cy="1471070"/>
          </a:xfrm>
          <a:prstGeom prst="roundRect">
            <a:avLst>
              <a:gd name="adj" fmla="val 3108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14639"/>
            <a:ext cx="76200" cy="14710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28939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0211"/>
            <a:ext cx="10363200" cy="933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JWT checked only offline can remain accepted until </a:t>
            </a:r>
            <a:r>
              <a:rPr lang="en-US" sz="16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(plus clock tolerance). Earlier refusal needs a revocation check or policy lookup. Deleting the browser cookie alone does not revoke a copied token.</a:t>
            </a:r>
            <a:endParaRPr lang="en-US" sz="1624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7009, Token Revocation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Foundation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RP-Initiated Logout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failures, and what catches each</a:t>
            </a:r>
            <a:endParaRPr lang="en-US" sz="336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14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Failure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Symptom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that finds it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audience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works, too widely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present another API's token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issuer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accepts the wrong tenant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wrong-issuer variant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Over-broad scope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scope, every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scope-to-tool table + a denied call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 as API token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works, no scope exists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present the ID token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PKCE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works perfectly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verifier → invalid_grant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 in the URL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leak through history/logs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Archive (HAR): ?access_token= or Referer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9700, OAuth 2.0 Security Best Current Practice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above, applied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Authorizing the MCP server you built last week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does not invent an auth model. It profiles one.</a:t>
            </a:r>
            <a:endParaRPr lang="en-US" sz="2940" dirty="0"/>
          </a:p>
        </p:txBody>
      </p:sp>
      <p:sp>
        <p:nvSpPr>
          <p:cNvPr id="7" name="Text 5"/>
          <p:cNvSpPr/>
          <p:nvPr/>
        </p:nvSpPr>
        <p:spPr>
          <a:xfrm>
            <a:off x="685800" y="1532786"/>
            <a:ext cx="1082040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HTTP MCP server using authorization follows an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resource-server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profile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publish protected-resource metadata (RFC 9728)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Authorization Code +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PKCE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 </a:t>
            </a: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(RFC 8707)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accept tokens whose audience is themselves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NOT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accept or forward any other token — no passthrough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servers are excluded: they take credentials from the environment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685800" y="3829835"/>
            <a:ext cx="10820400" cy="1441213"/>
          </a:xfrm>
          <a:prstGeom prst="roundRect">
            <a:avLst>
              <a:gd name="adj" fmla="val 317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29835"/>
            <a:ext cx="76200" cy="144121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44135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8930"/>
            <a:ext cx="10363200" cy="909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requirement above is something you already did in Blocks A and B. The MCP specification's contribution is making the discovery step mandatory so a client can find its way in without configuration.</a:t>
            </a:r>
            <a:endParaRPr lang="en-US" sz="157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are adding to last week's system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 added in front of the Week 7 server. The MCP server itself does not change.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along: 401 → 403 → 200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24 LTS; course root =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master, or student download root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issuer ·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:8930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proxy ·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:8931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calls. Stop A, B, C with Ctrl+C</a:t>
            </a:r>
            <a:endParaRPr lang="en-US" sz="2112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208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token: 401 with metadata pointer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write: 403; operator write: 200</a:t>
            </a:r>
            <a:endParaRPr lang="en-US" sz="1872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72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captured-walk fallback.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Parts 0 and 5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 proxy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 server/client command and recovery step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Terminals A and B: issuer and proxy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757251"/>
          </a:xfrm>
          <a:prstGeom prst="roundRect">
            <a:avLst>
              <a:gd name="adj" fmla="val 199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in each new window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21819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'9100'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authz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$env:MCP_UPSTREAM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'http://127.0.0.1:8931/mcp'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'8930'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595857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95857"/>
            <a:ext cx="76200" cy="105266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10157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5046199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your lab issuer if already running. Keep A and B open, then start C.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0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issuer and proxy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in each new window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PORT=9100 node authz-server.mjs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PORT=8930 MCP_UPSTREAM=http://127.0.0.1:8931/mcp node mcp-auth-proxy.mjs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:8930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prints its policy table. Reuse a running issuer; keep A and B open, then start C.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0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C: a memory-only backend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C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samples\mcp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-starter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ci                      </a:t>
            </a: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build               </a:t>
            </a: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$env:MCP_HOST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'127.0.0.1'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'8931'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$env:DATABASE_URL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$null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</a:t>
            </a: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:http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</a:t>
            </a: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store=memory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"NO AUTHORIZATION". Only the proxy adds the authorization boundary.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starter quick start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a memory-only backend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C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samples/mcp-starter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ci 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build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MCP_HOST=127.0.0.1 PORT=8931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-u DATABASE_URL npm run start:http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 -u DATABASE_URL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guarantees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store=memory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operator's write stays synthetic.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starter quick start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refusal and discovery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692329"/>
          </a:xfrm>
          <a:prstGeom prst="roundRect">
            <a:avLst>
              <a:gd name="adj" fmla="val 203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course-content root - fresh Terminal 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1170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'http://127.0.0.1:8930'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"{}"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 application/json"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"Mcp-Method: tools/call"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"Mcp-Name: post_incident_update"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"Mcp-Protocol-Version: 2026-07-28"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/.well-known/oauth-protected-resource"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404209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04209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8509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4809212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 metadata URL and scope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refusal and discovery</a:t>
            </a:r>
            <a:endParaRPr lang="en-US" sz="3612" dirty="0"/>
          </a:p>
        </p:txBody>
      </p:sp>
      <p:sp>
        <p:nvSpPr>
          <p:cNvPr id="7" name="Shape 5"/>
          <p:cNvSpPr/>
          <p:nvPr/>
        </p:nvSpPr>
        <p:spPr>
          <a:xfrm>
            <a:off x="685800" y="1653231"/>
            <a:ext cx="10820400" cy="2900081"/>
          </a:xfrm>
          <a:prstGeom prst="roundRect">
            <a:avLst>
              <a:gd name="adj" fmla="val 18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5323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7228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course-content root - fresh Terminal 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02811"/>
            <a:ext cx="10439400" cy="232477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PROXY=http://127.0.0.1:8930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-i --noproxy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--max-time 10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548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-d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'{}'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 application/json"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"Mcp-Method: tools/call"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"Mcp-Name: post_incident_update"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"Mcp-Protocol-Version: 2026-07-28"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--noproxy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--max-time 10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548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/.well-known/oauth-protected-resource"</a:t>
            </a:r>
            <a:endParaRPr lang="en-US" sz="1548" dirty="0"/>
          </a:p>
        </p:txBody>
      </p:sp>
      <p:sp>
        <p:nvSpPr>
          <p:cNvPr id="11" name="Shape 9"/>
          <p:cNvSpPr/>
          <p:nvPr/>
        </p:nvSpPr>
        <p:spPr>
          <a:xfrm>
            <a:off x="685800" y="4684375"/>
            <a:ext cx="10820400" cy="1009855"/>
          </a:xfrm>
          <a:prstGeom prst="roundRect">
            <a:avLst>
              <a:gd name="adj" fmla="val 452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84375"/>
            <a:ext cx="76200" cy="100985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98675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4" name="Text 12"/>
          <p:cNvSpPr/>
          <p:nvPr/>
        </p:nvSpPr>
        <p:spPr>
          <a:xfrm>
            <a:off x="914400" y="5115286"/>
            <a:ext cx="10363200" cy="42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401 plus a </a:t>
            </a:r>
            <a:r>
              <a:rPr lang="en-US" sz="194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</a:t>
            </a: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naming the metadata URL and the write scope.</a:t>
            </a:r>
            <a:endParaRPr lang="en-US" sz="194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three authenticated calls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keep A, B, C running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post_incident_update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post_incident_update `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--login-as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operator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get_incident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389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incident again: the operator's fixed classroom update is public and visible. Viewer write is denied. HTTP 200 with a tool error is not success.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MCP authorization walk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real-provider integration and limits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three authenticated calls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2289810"/>
          </a:xfrm>
          <a:prstGeom prst="roundRect">
            <a:avLst>
              <a:gd name="adj" fmla="val 23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keep A, B, C running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7145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post_incident_update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post_incident_update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--login-as operator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get_incident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200830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00830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15130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677080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→ 403 → 200. Read the incident again to see the fixed synthetic update; the launcher commands keep all writes in memory.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MCP authorization walk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missing token, three authenticated cases</a:t>
            </a:r>
            <a:endParaRPr lang="en-US" sz="336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14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decided it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token at all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credential; challenge carries resource_metadata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Viewer, read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Granted scope covers campuspulse.read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Viewer, write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Tenant refused to grant the write scope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Operator, write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 granted and the operator role matched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of the four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of them proves 8931 is protected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walks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handshake starts with a refusal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mcp-client-walk.mjs — captured 2026-08-15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 tools/call list_service_status, no token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 401; challenge names resource_metadata and scope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 GET http://127.0.0.1:8930/.well-known/oauth-protected-resource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"resource": "http://127.0.0.1:8930/mcp",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"authorization_servers": ["http://127.0.0.1:9100"],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"scopes_supported": ["campuspulse.read", "campuspulse.incident.write"],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"bearer_methods_supported": ["header"]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401 is the discovery starting point here: follow its protected-resource metadata (PRM) URL. Clients can also discover metadata via well-known paths.</a:t>
            </a:r>
            <a:endParaRPr lang="en-US" sz="17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Per-tool scope, decided without parsing the body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2874112"/>
          </a:xfrm>
          <a:prstGeom prst="roundRect">
            <a:avLst>
              <a:gd name="adj" fmla="val 190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2026-07-28 requires the target in a header, not just the body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2988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Mcp-Method: tools/call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Mcp-Name: post_incident_update    # body must agree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Mcp-Protocol-Version: 2026-07-28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 scope policy (writes also require operator role):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list_service_status  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         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draft_incident_update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  -&gt; campuspulse.incident.write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 else       -&gt; deny by default</a:t>
            </a:r>
            <a:endParaRPr lang="en-US" sz="1224" dirty="0"/>
          </a:p>
        </p:txBody>
      </p:sp>
      <p:sp>
        <p:nvSpPr>
          <p:cNvPr id="11" name="Shape 9"/>
          <p:cNvSpPr/>
          <p:nvPr/>
        </p:nvSpPr>
        <p:spPr>
          <a:xfrm>
            <a:off x="685800" y="4495474"/>
            <a:ext cx="10820400" cy="1411357"/>
          </a:xfrm>
          <a:prstGeom prst="roundRect">
            <a:avLst>
              <a:gd name="adj" fmla="val 32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95474"/>
            <a:ext cx="76200" cy="141135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09774"/>
            <a:ext cx="10363200" cy="220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68092"/>
            <a:ext cx="10363200" cy="886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routing lets an intermediary route and rate-limit an MCP call </a:t>
            </a:r>
            <a:r>
              <a:rPr lang="en-US" sz="15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parsing JSON-RPC, and stops a caller showing the proxy one target while the server runs another. A careful proxy still parses the body to confirm they agree.</a:t>
            </a:r>
            <a:endParaRPr lang="en-US" sz="153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call, one credential apart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532786"/>
            <a:ext cx="10820400" cy="3166262"/>
          </a:xfrm>
          <a:prstGeom prst="roundRect">
            <a:avLst>
              <a:gd name="adj" fmla="val 173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3278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18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mcp-client-walk.mjs --tool post_incident_update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2366"/>
            <a:ext cx="10439400" cy="25909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 a VIEWER — the tenant refused to grant the write scope at all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scope         openid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 tools/call post_incident_update WITH the access token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 403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WWW-Authenticate: Bearer error="insufficient_scope",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scope="campuspulse.incident.write",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resource_metadata="http://127.0.0.1:8930/.well-known/…"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 an OPERATOR — same client, same tool, same server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scope         openid campuspulse.incident.write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 HTTP 200  {"result":{"content":[{"type":"text", …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85800" y="4805728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805728"/>
            <a:ext cx="76200" cy="11684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0028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184823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→ 403 → 200. Three different answers to the same request, and the only variable is the credential. That progression separates authentication from authorization.</a:t>
            </a:r>
            <a:endParaRPr lang="en-US" sz="157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Week 7 and Week 8 actually collide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2874112"/>
          </a:xfrm>
          <a:prstGeom prst="roundRect">
            <a:avLst>
              <a:gd name="adj" fmla="val 190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expiry-mid-connection.mjs --ttl 6   (ENFORCE_STREAM_EXPIRY=0)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2988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0s  stream opened: HTTP 200 text/event-stream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0s  open        {"exp":1786824030,"expires_in":6,"enforcing":false}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2s  heartbeat   {"n":1,"token_expires_in":4,"still_streaming":true}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6s  heartbeat   {"n":3,"token_expires_in":0,"still_streaming":true}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8s  heartbeat   {"n":4,"token_expires_in":-2,"still_streaming":true}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t+ 12s  heartbeat   {"n":6,"token_expires_in":-7,"still_streaming":true}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 ENFORCE_STREAM_EXPIRY=1: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8s  token_expired  {"error":"invalid_token",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"error_description":"re-authorize and reconnect"}</a:t>
            </a:r>
            <a:endParaRPr lang="en-US" sz="1224" dirty="0"/>
          </a:p>
        </p:txBody>
      </p:sp>
      <p:sp>
        <p:nvSpPr>
          <p:cNvPr id="11" name="Shape 9"/>
          <p:cNvSpPr/>
          <p:nvPr/>
        </p:nvSpPr>
        <p:spPr>
          <a:xfrm>
            <a:off x="685800" y="4495474"/>
            <a:ext cx="10820400" cy="1411357"/>
          </a:xfrm>
          <a:prstGeom prst="roundRect">
            <a:avLst>
              <a:gd name="adj" fmla="val 323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95474"/>
            <a:ext cx="76200" cy="1411357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09774"/>
            <a:ext cx="10363200" cy="220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68092"/>
            <a:ext cx="10363200" cy="886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53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subscriptions/listen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stream takes </a:t>
            </a:r>
            <a:r>
              <a:rPr lang="en-US" sz="15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authorization decision, at open. An access token lives fifteen minutes. Minute 47 of that stream is serving data to a credential that expired half an hour ago — and your audit log's last entry still says </a:t>
            </a:r>
            <a:r>
              <a:rPr lang="en-US" sz="153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3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choose one stream mode</a:t>
            </a:r>
            <a:endParaRPr lang="en-US" sz="4116" dirty="0"/>
          </a:p>
        </p:txBody>
      </p:sp>
      <p:sp>
        <p:nvSpPr>
          <p:cNvPr id="7" name="Shape 5"/>
          <p:cNvSpPr/>
          <p:nvPr/>
        </p:nvSpPr>
        <p:spPr>
          <a:xfrm>
            <a:off x="685800" y="1743564"/>
            <a:ext cx="10820400" cy="1939229"/>
          </a:xfrm>
          <a:prstGeom prst="roundRect">
            <a:avLst>
              <a:gd name="adj" fmla="val 28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435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626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93144"/>
            <a:ext cx="10439400" cy="13639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Stop your proxy with Ctrl+C; run the bug mode: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$env:ENFORCE_STREAM_EXPIRY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6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AFTER Terminal D's bug run: Ctrl+C here, then: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$env:ENFORCE_STREAM_EXPIRY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6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764" dirty="0"/>
          </a:p>
        </p:txBody>
      </p:sp>
      <p:sp>
        <p:nvSpPr>
          <p:cNvPr id="11" name="Shape 9"/>
          <p:cNvSpPr/>
          <p:nvPr/>
        </p:nvSpPr>
        <p:spPr>
          <a:xfrm>
            <a:off x="685800" y="3832145"/>
            <a:ext cx="10820400" cy="1477339"/>
          </a:xfrm>
          <a:prstGeom prst="roundRect">
            <a:avLst>
              <a:gd name="adj" fmla="val 309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32145"/>
            <a:ext cx="76200" cy="147733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46445"/>
            <a:ext cx="10363200" cy="317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1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17" dirty="0"/>
          </a:p>
        </p:txBody>
      </p:sp>
      <p:sp>
        <p:nvSpPr>
          <p:cNvPr id="14" name="Text 12"/>
          <p:cNvSpPr/>
          <p:nvPr/>
        </p:nvSpPr>
        <p:spPr>
          <a:xfrm>
            <a:off x="914400" y="4301918"/>
            <a:ext cx="10363200" cy="85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server command blocks. Do not paste both starts together. Keep issuer A running; use D for the client while B holds the selected mode.</a:t>
            </a:r>
            <a:endParaRPr lang="en-US" sz="2211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bug run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enforced run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043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measure both stream modes</a:t>
            </a:r>
            <a:endParaRPr lang="en-US" sz="4032" dirty="0"/>
          </a:p>
        </p:txBody>
      </p:sp>
      <p:sp>
        <p:nvSpPr>
          <p:cNvPr id="7" name="Shape 5"/>
          <p:cNvSpPr/>
          <p:nvPr/>
        </p:nvSpPr>
        <p:spPr>
          <a:xfrm>
            <a:off x="685800" y="1728509"/>
            <a:ext cx="10820400" cy="2224888"/>
          </a:xfrm>
          <a:prstGeom prst="roundRect">
            <a:avLst>
              <a:gd name="adj" fmla="val 246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2850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4755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D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78089"/>
            <a:ext cx="10439400" cy="1649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While B is in bug mode: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-mid-connection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--ttl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--watch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Switch B to enforced mode, then: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-mid-connection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--ttl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--watch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.\transcripts\part6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-expiry-bug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728" dirty="0"/>
          </a:p>
        </p:txBody>
      </p:sp>
      <p:sp>
        <p:nvSpPr>
          <p:cNvPr id="11" name="Shape 9"/>
          <p:cNvSpPr/>
          <p:nvPr/>
        </p:nvSpPr>
        <p:spPr>
          <a:xfrm>
            <a:off x="685800" y="4099700"/>
            <a:ext cx="10820400" cy="1829346"/>
          </a:xfrm>
          <a:prstGeom prst="roundRect">
            <a:avLst>
              <a:gd name="adj" fmla="val 24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99700"/>
            <a:ext cx="76200" cy="1829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14000"/>
            <a:ext cx="1036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914400" y="4562996"/>
            <a:ext cx="10363200" cy="1213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Bug: heartbeats continue past expiry. Fix: token_expired and stream CLOSED. This is a synthetic Server-Sent Events (SSE) stream, not a full MCP subscription. Stop your A/B/C servers with Ctrl+C afterward.</a:t>
            </a:r>
            <a:endParaRPr lang="en-US" sz="216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choose one stream mode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 Ctrl+C, then restart the proxy with enforcement OFF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ENFORCE_STREAM_EXPIRY=0 \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MCP_UPSTREAM=http://127.0.0.1:8931/mcp node mcp-auth-proxy.mjs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 Ctrl+C, then restart it enforced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ENFORCE_STREAM_EXPIRY=1 \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MCP_UPSTREAM=http://127.0.0.1:8931/mcp node mcp-auth-proxy.mjs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only one server command at a time. Use the next slide in D while B is running. After both measurements, Ctrl+C in your A, B and C windows.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bug run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enforced run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Terminal D: measure both stream modes</a:t>
            </a:r>
            <a:endParaRPr lang="en-US" sz="3612" dirty="0"/>
          </a:p>
        </p:txBody>
      </p:sp>
      <p:sp>
        <p:nvSpPr>
          <p:cNvPr id="7" name="Shape 5"/>
          <p:cNvSpPr/>
          <p:nvPr/>
        </p:nvSpPr>
        <p:spPr>
          <a:xfrm>
            <a:off x="685800" y="2202323"/>
            <a:ext cx="10820400" cy="2062582"/>
          </a:xfrm>
          <a:prstGeom prst="roundRect">
            <a:avLst>
              <a:gd name="adj" fmla="val 266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0232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2137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D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51903"/>
            <a:ext cx="10439400" cy="14872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While B is in bug mode: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expiry-mid-connection.mjs --ttl 6 --watch 14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Switch B to enforced mode, then: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expiry-mid-connection.mjs --ttl 8 --watch 22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40 ./transcripts/part6-expiry-bug.txt</a:t>
            </a:r>
            <a:endParaRPr lang="en-US" sz="1548" dirty="0"/>
          </a:p>
        </p:txBody>
      </p:sp>
      <p:sp>
        <p:nvSpPr>
          <p:cNvPr id="11" name="Shape 9"/>
          <p:cNvSpPr/>
          <p:nvPr/>
        </p:nvSpPr>
        <p:spPr>
          <a:xfrm>
            <a:off x="685800" y="4395969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95969"/>
            <a:ext cx="76200" cy="134496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0269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4" name="Text 12"/>
          <p:cNvSpPr/>
          <p:nvPr/>
        </p:nvSpPr>
        <p:spPr>
          <a:xfrm>
            <a:off x="914400" y="4826880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stream outlives its credential; the second emits token_expired and closes. This synthetic Server-Sent Events (SSE) test needs the issuer and proxy.</a:t>
            </a:r>
            <a:endParaRPr lang="en-US" sz="19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MCP server has four tools. Write the policy table — and defend two rows.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list_service_status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(read)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(read)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(writes)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(destructive, added tomorrow)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scopes exist, and which tool needs which?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ships tomorrow and nobody updates the table. What happens — and what </a:t>
            </a:r>
            <a:r>
              <a:rPr lang="en-US" sz="2016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should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happen?</a:t>
            </a:r>
            <a:endParaRPr lang="en-US" sz="201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Scope selection and step-up authorization, spec 2026-07-28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are doing in the next 35 minutes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1577953"/>
            <a:ext cx="10820400" cy="2709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an OIDC redirect with PKCE, then break it on purpose and read the error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a real token against a live JWKS; tamper with one claim; watch it fail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wrong-audience, expired, and insufficient-scope tokens — read 401 vs 403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proxy in front of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Week 7 MCP server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watch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 → 200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 a viewer's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allow an operator's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Evidence: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redirect every terminal's output as you go — six of HW7's fourteen required artifacts are done before you leave the room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4388361"/>
            <a:ext cx="10820400" cy="1530782"/>
          </a:xfrm>
          <a:prstGeom prst="roundRect">
            <a:avLst>
              <a:gd name="adj" fmla="val 2987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88361"/>
            <a:ext cx="76200" cy="153078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02661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4786887"/>
            <a:ext cx="10363200" cy="97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terminals: issuer (9100), proxy (8930), Week 7 server (8931), and client. Restarting the authorization server mints a </a:t>
            </a:r>
            <a:r>
              <a:rPr lang="en-US" sz="171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signing key, so every token issued before it is instantly stale.</a:t>
            </a:r>
            <a:endParaRPr lang="en-US" sz="171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HW7 — Claims Forensics and MCP Authorization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1608064"/>
            <a:ext cx="108204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due before Week 9 · satisfies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6 — Authorized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— with transcripts, not assertions — that your validator rejects the tokens it should, and that your Week 7 MCP server now refuses unauthorized calls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 a sequence diagram from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provider's real endpoints, five negative-test transcripts, a claims matrix, and the MCP server behind OAuth with per-tool scopes and a captured denial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handout: </a:t>
            </a:r>
            <a:r>
              <a:rPr lang="en-US" sz="1920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weeks/week08/homework.md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439656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439656"/>
            <a:ext cx="76200" cy="12787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53956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4851136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Submitting a usable token is −20 and a mandatory resubmission with rotation evidence. Redact, do not crop — keep the shape.</a:t>
            </a:r>
            <a:endParaRPr lang="en-US" sz="180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leave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 one check your resource server performs that would still reject a genuine, correctly-signed, unexpired token from your own tenant — and say why that is not paranoia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Revisit your HW6 attacker list. HW8 will test which attacks your authorization now blocks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9 prep is posted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next week attacks the system you just authorized</a:t>
            </a:r>
            <a:endParaRPr lang="en-US" sz="240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Sessions, authorization decisions, and MCP auth — Week 8 Block C</dc:title>
  <dc:subject>Where the token lives, where the decision belongs, and what OAuth looks like in front of the server you built last week</dc:subject>
  <dc:creator>Course staff</dc:creator>
  <cp:lastModifiedBy>Course staff</cp:lastModifiedBy>
  <cp:revision>1</cp:revision>
  <dcterms:created xsi:type="dcterms:W3CDTF">2026-10-29T22:48:35Z</dcterms:created>
  <dcterms:modified xsi:type="dcterms:W3CDTF">2026-10-29T22:48:35Z</dcterms:modified>
</cp:coreProperties>
</file>