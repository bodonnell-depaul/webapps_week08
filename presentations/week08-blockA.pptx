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notesTheme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notesTheme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[Every demo: servers, clients, expected results, cleanup](../samples/README.md)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npm --prefix samples\mcp-starter ci
npm --prefix samples\oidc-web-app ci
npm --prefix samples\oidc-web-app run demo
SOURCES:
Course — [Complete browser sign-in demo](../../../samples/oidc-web-app/README.md)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npm --prefix samples/mcp-starter ci
npm --prefix samples/oidc-web-app ci
npm --prefix samples/oidc-web-app run 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OpenID Foundation — [OpenID Connect Core 1.0](https://openid.net/specs/openid-connect-core-1_0.html)
IETF — [RFC 8414, Authorization Server Metadata](https://www.rfc-editor.org/rfc/rfc8414.html)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7517, JSON Web Key](https://www.rfc-editor.org/rfc/rfc7517.html)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7636, Proof Key for Code Exchange](https://www.rfc-editor.org/rfc/rfc7636.html)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[Week 8 lab, Parts 0–2](../lab.md)
Course — [lab authorization server](../samples/authz-server.mjs)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cd weeks\week08\samples
node authz-server.mjs
SOURCES:
Course — [lab authorization server](../samples/authz-server.mjs)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cd weeks/week08/samples
node authz-server.mjs
SOURCES:
Course — [lab authorization server](../samples/authz-server.mjs)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cd weeks\week08\samples
node pkce.mjs
# Inspect the URL only: this helper has no callback server.
node pkce-negative.mjs
SOURCES:
Course — [Week 8 lab, Part 2](../lab.md)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cd weeks/week08/samples
node pkce.mjs
# Inspect the URL only: this helper has no callback server.
node pkce-negative.mjs
SOURCES:
Course — [Week 8 lab, Part 2](../lab.md)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9700, OAuth 2.0 Security Best Current Practice §2.1.1](https://www.rfc-editor.org/rfc/rfc9700.html)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7636 §4.6](https://www.rfc-editor.org/rfc/rfc7636.html)
IETF — [RFC 9700 §2.1.1](https://www.rfc-editor.org/rfc/rfc9700.html)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Get-Content .\weeks\week08\samples\transcripts\part2-pkce-negative.txt
Get-Content .\weeks\week08\samples\fixtures\discovery-google.json
# Cleanup: Ctrl+C in Terminal A; close the consent browser tab
SOURCES:
Course — [captured PKCE negatives](../samples/transcripts/part2-pkce-negative.txt)
Course — [Google discovery snapshot, 2026-08-15](../samples/fixtures/discovery-google.json)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cat ./weeks/week08/samples/transcripts/part2-pkce-negative.txt
head -n 40 ./weeks/week08/samples/fixtures/discovery-google.json
# Cleanup: Ctrl+C in Terminal A; close the consent browser tab
SOURCES:
Course — [captured PKCE negatives](../samples/transcripts/part2-pkce-negative.txt)
Course — [Google discovery snapshot, 2026-08-15](../samples/fixtures/discovery-google.json)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9700 §2.1, on `state`, PKCE, and `nonce`](https://www.rfc-editor.org/rfc/rfc9700.html)
IETF — [RFC 9207, Authorization Server Issuer Identification](https://www.rfc-editor.org/rfc/rfc9207.html)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MCP — [Authorization, specification 2026-07-28](https://modelcontextprotocol.io/specification/2026-07-28/basic/authorization)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../samples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../../../samples/oidc-web-app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id.net/specs/openid-connect-core-1_0.html" TargetMode="External"/><Relationship Id="rId2" Type="http://schemas.openxmlformats.org/officeDocument/2006/relationships/hyperlink" Target="https://www.rfc-editor.org/rfc/rfc8414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7517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7636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hyperlink" Target="../samples/authz-server.mj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../samples/authz-server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../samples/authz-server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700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7636.html" TargetMode="External"/><Relationship Id="rId2" Type="http://schemas.openxmlformats.org/officeDocument/2006/relationships/hyperlink" Target="https://www.rfc-editor.org/rfc/rfc9700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../samples/transcripts/part2-pkce-negative.txt" TargetMode="External"/><Relationship Id="rId2" Type="http://schemas.openxmlformats.org/officeDocument/2006/relationships/hyperlink" Target="../samples/fixtures/discovery-google.jso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hyperlink" Target="../samples/transcripts/part2-pkce-negative.txt" TargetMode="External"/><Relationship Id="rId2" Type="http://schemas.openxmlformats.org/officeDocument/2006/relationships/hyperlink" Target="../samples/fixtures/discovery-google.jso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700.html" TargetMode="External"/><Relationship Id="rId2" Type="http://schemas.openxmlformats.org/officeDocument/2006/relationships/hyperlink" Target="https://www.rfc-editor.org/rfc/rfc9207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specification/2026-07-28/basic/authorizatio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67640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8350"/>
            <a:ext cx="10287000" cy="18244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57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OAuth exists and how the flow runs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685800" y="3977107"/>
            <a:ext cx="9525000" cy="8996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3985"/>
              </a:lnSpc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Delegation, not login — the four actors, the two trust boundaries, and Authorization Code with PKCE end to end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4991100"/>
            <a:ext cx="205740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91100"/>
            <a:ext cx="20574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8 · Block 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57500" y="4991100"/>
            <a:ext cx="14287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7500" y="4991100"/>
            <a:ext cx="14287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00550" y="4991100"/>
            <a:ext cx="22669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0550" y="4991100"/>
            <a:ext cx="22669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2026-10-29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27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2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words behind "Sign in with..."</a:t>
            </a:r>
            <a:endParaRPr lang="en-US" sz="3528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38175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4268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1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</a:t>
                      </a:r>
                      <a:endParaRPr lang="en-US" sz="151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1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Think of your student project</a:t>
                      </a:r>
                      <a:endParaRPr lang="en-US" sz="151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48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Authentication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"Who signed in?" A campus identity check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48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Authorization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"May this person post a Wi-Fi outage update?"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247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OAuth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Delegated authorization: let an app act without giving it your password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247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OpenID Connect (OIDC)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login layer on OAuth: tells the client who signed in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247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 token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temporary credential the app presents to a service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247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Scope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named permission, such as read status but not write updates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78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Acronyms you will see on the wire</a:t>
            </a:r>
            <a:endParaRPr lang="en-US" sz="3864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8397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451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Short name</a:t>
                      </a:r>
                      <a:endParaRPr lang="en-US" sz="165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name and job</a:t>
                      </a:r>
                      <a:endParaRPr lang="en-US" sz="165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777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Application Programming Interface: software calls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JSON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JavaScript Object Notation: structured data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JWT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JSON Web Token: a claims format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JWKS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JSON Web Key Set: public verification keys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PKCE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Proof Key for Code Exchange ("pixy")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77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 / TLS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Hypertext Transfer Protocol / Transport Layer Security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you shipped last week, exactly as you left it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397100"/>
            <a:ext cx="10820400" cy="2453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 the Week 7 starter's </a:t>
            </a: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/healthz</a:t>
            </a: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response: </a:t>
            </a: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"authorization":"none"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has real tools, a real state-changing action, and a real MCP App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authorization, anyone who can reach that port can call its tools; this is why the Week 7 exercise stayed on loopback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Prelecture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answers from your prep, before we start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924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8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Q1 — What is OAuth actually for?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685800" y="2909171"/>
            <a:ext cx="5219700" cy="19153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— letting one app act on your behalf at another, without your password.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If you picked "proving who you are," that is the mistake this block spends its first minutes correcting.</a:t>
            </a:r>
            <a:endParaRPr lang="en-US" sz="2112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924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8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Q4 — What does jwt.io prove?</a:t>
            </a:r>
            <a:endParaRPr lang="en-US" sz="1980" dirty="0"/>
          </a:p>
        </p:txBody>
      </p:sp>
      <p:sp>
        <p:nvSpPr>
          <p:cNvPr id="10" name="Text 8"/>
          <p:cNvSpPr/>
          <p:nvPr/>
        </p:nvSpPr>
        <p:spPr>
          <a:xfrm>
            <a:off x="6286500" y="2909171"/>
            <a:ext cx="5219700" cy="30097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 — decoding alone only shows contents, not whether they are trustworthy.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debugger may also verify a signature if correctly configured; that still does not decide your application's permissions. Do not upload real tokens.</a:t>
            </a:r>
            <a:endParaRPr lang="en-US" sz="211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Weekly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Addresses you will configure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58620"/>
            <a:ext cx="10820400" cy="3459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(Uniform Resource Locator):</a:t>
            </a: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web address you can open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URI (Uniform Resource Identifier):</a:t>
            </a: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 identifier; our callback URIs are URLs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Endpoint:</a:t>
            </a: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specific address an application calls for one job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Callback:</a:t>
            </a: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where the provider sends your browser back after approval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</a:t>
            </a: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HTTP protected by TLS; encrypts traffic between endpoints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Weekly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89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Configuration is an address book, not magic</a:t>
            </a:r>
            <a:endParaRPr lang="en-US" sz="3612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02323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4329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4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Setting</a:t>
                      </a:r>
                      <a:endParaRPr lang="en-US" sz="154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4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identifies</a:t>
                      </a:r>
                      <a:endParaRPr lang="en-US" sz="154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547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Tenant / issuer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Provider workspace / exact token issuer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547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Discovery URL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Endpoint directory at a trusted web address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379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ID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 registration identifier for your app, not a password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547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Redirect URI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Registered callback address receiving the code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547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 / audience (aud)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 requested / token's intended recipient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379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secret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Backend-only credential; never put it in browser code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Weekly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scopes, one isolation rule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77670"/>
            <a:ext cx="5219700" cy="4334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Permissions to configure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325453"/>
            <a:ext cx="5219700" cy="3307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Read: </a:t>
            </a: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campuspulse.read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Write: </a:t>
            </a: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campuspulse.incident.write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your assigned registrations, not another student's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1777670"/>
            <a:ext cx="5219700" cy="4334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Keep it isolated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325453"/>
            <a:ext cx="5219700" cy="3307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server on </a:t>
            </a: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</a:t>
            </a: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(loopback: only this computer)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expose an unauthenticated endpoint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tenant values: contact the instructor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27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2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any command: choose the course root</a:t>
            </a:r>
            <a:endParaRPr lang="en-US" sz="3528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38175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4268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1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starting point</a:t>
                      </a:r>
                      <a:endParaRPr lang="en-US" sz="151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1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to run commands</a:t>
                      </a:r>
                      <a:endParaRPr lang="en-US" sz="151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48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Master checkout (instructor + student)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cd instructor in each new terminal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247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Downloaded student course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Stay in its top folder, containing weeks and samples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247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Caption says "repository root" below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 means this course-content root, not the master checkout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48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PowerShell / macOS slides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Choose one shell; do not run both alternatives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247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Runtime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Node.js 24 LTS (Long-Term Support); use node --version to check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Every demo: servers, clients, expected results, cleanup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24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First, a login that comes back to your app</a:t>
            </a:r>
            <a:endParaRPr lang="en-US" sz="3780" dirty="0"/>
          </a:p>
        </p:txBody>
      </p:sp>
      <p:sp>
        <p:nvSpPr>
          <p:cNvPr id="7" name="Shape 5"/>
          <p:cNvSpPr/>
          <p:nvPr/>
        </p:nvSpPr>
        <p:spPr>
          <a:xfrm>
            <a:off x="685800" y="2257974"/>
            <a:ext cx="10820400" cy="1543202"/>
          </a:xfrm>
          <a:prstGeom prst="roundRect">
            <a:avLst>
              <a:gd name="adj" fmla="val 3555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57974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277024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course-content root - one terminal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707554"/>
            <a:ext cx="10439400" cy="96789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--prefix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samples\mcp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-starter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ci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--prefix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samples\oidc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-web-app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ci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--prefix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samples\oidc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-web-app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run demo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685800" y="3938336"/>
            <a:ext cx="10820400" cy="1739777"/>
          </a:xfrm>
          <a:prstGeom prst="roundRect">
            <a:avLst>
              <a:gd name="adj" fmla="val 2628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938336"/>
            <a:ext cx="76200" cy="173977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52636"/>
            <a:ext cx="10363200" cy="291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85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85" dirty="0"/>
          </a:p>
        </p:txBody>
      </p:sp>
      <p:sp>
        <p:nvSpPr>
          <p:cNvPr id="14" name="Text 12"/>
          <p:cNvSpPr/>
          <p:nvPr/>
        </p:nvSpPr>
        <p:spPr>
          <a:xfrm>
            <a:off x="914400" y="4382201"/>
            <a:ext cx="10363200" cy="114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launcher starts the browser application's backend, a local identity provider, and the authenticated resource server. Open the printed application URL.</a:t>
            </a:r>
            <a:endParaRPr lang="en-US" sz="2030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Complete browser sign-in demo</a:t>
            </a:r>
            <a:endParaRPr lang="en-US" sz="12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173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3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the same complete browser application</a:t>
            </a:r>
            <a:endParaRPr lang="en-US" sz="4032" dirty="0"/>
          </a:p>
        </p:txBody>
      </p:sp>
      <p:sp>
        <p:nvSpPr>
          <p:cNvPr id="7" name="Shape 5"/>
          <p:cNvSpPr/>
          <p:nvPr/>
        </p:nvSpPr>
        <p:spPr>
          <a:xfrm>
            <a:off x="685800" y="2341449"/>
            <a:ext cx="10820400" cy="1601633"/>
          </a:xfrm>
          <a:prstGeom prst="roundRect">
            <a:avLst>
              <a:gd name="adj" fmla="val 342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341449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360499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course-content root - one terminal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791029"/>
            <a:ext cx="10439400" cy="10263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--prefix samples/mcp-starter ci</a:t>
            </a:r>
            <a:endParaRPr lang="en-US" sz="172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--prefix samples/oidc-web-app ci</a:t>
            </a:r>
            <a:endParaRPr lang="en-US" sz="172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--prefix samples/oidc-web-app run demo</a:t>
            </a:r>
            <a:endParaRPr lang="en-US" sz="1728" dirty="0"/>
          </a:p>
        </p:txBody>
      </p:sp>
      <p:sp>
        <p:nvSpPr>
          <p:cNvPr id="11" name="Shape 9"/>
          <p:cNvSpPr/>
          <p:nvPr/>
        </p:nvSpPr>
        <p:spPr>
          <a:xfrm>
            <a:off x="685800" y="4089386"/>
            <a:ext cx="10820400" cy="1829346"/>
          </a:xfrm>
          <a:prstGeom prst="roundRect">
            <a:avLst>
              <a:gd name="adj" fmla="val 249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089386"/>
            <a:ext cx="76200" cy="182934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3686"/>
            <a:ext cx="1036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84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584" dirty="0"/>
          </a:p>
        </p:txBody>
      </p:sp>
      <p:sp>
        <p:nvSpPr>
          <p:cNvPr id="14" name="Text 12"/>
          <p:cNvSpPr/>
          <p:nvPr/>
        </p:nvSpPr>
        <p:spPr>
          <a:xfrm>
            <a:off x="914400" y="4552682"/>
            <a:ext cx="10363200" cy="1213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1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printed application URL, not a guessed port. The page is the interface; the backend is the OAuth client. Keep the launcher running until Ctrl+C.</a:t>
            </a:r>
            <a:endParaRPr lang="en-US" sz="2166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Try it as a student, then as the help desk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416150"/>
            <a:ext cx="10820400" cy="1322897"/>
          </a:xfrm>
          <a:prstGeom prst="roundRect">
            <a:avLst>
              <a:gd name="adj" fmla="val 345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416150"/>
            <a:ext cx="76200" cy="132289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30450"/>
            <a:ext cx="1036320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86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86" dirty="0"/>
          </a:p>
        </p:txBody>
      </p:sp>
      <p:sp>
        <p:nvSpPr>
          <p:cNvPr id="10" name="Text 8"/>
          <p:cNvSpPr/>
          <p:nvPr/>
        </p:nvSpPr>
        <p:spPr>
          <a:xfrm>
            <a:off x="914400" y="2840584"/>
            <a:ext cx="10363200" cy="746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means you return to a working page and see actual data. A callback connection error is not a completed sign-in. No external tenant is needed.</a:t>
            </a:r>
            <a:endParaRPr lang="en-US" sz="1895" dirty="0"/>
          </a:p>
        </p:txBody>
      </p:sp>
      <p:sp>
        <p:nvSpPr>
          <p:cNvPr id="11" name="Text 9"/>
          <p:cNvSpPr/>
          <p:nvPr/>
        </p:nvSpPr>
        <p:spPr>
          <a:xfrm>
            <a:off x="685800" y="3905162"/>
            <a:ext cx="5219700" cy="351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1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Viewer: "Is campus Wi-Fi down?"</a:t>
            </a:r>
            <a:endParaRPr lang="en-US" sz="1710" dirty="0"/>
          </a:p>
        </p:txBody>
      </p:sp>
      <p:sp>
        <p:nvSpPr>
          <p:cNvPr id="12" name="Text 10"/>
          <p:cNvSpPr/>
          <p:nvPr/>
        </p:nvSpPr>
        <p:spPr>
          <a:xfrm>
            <a:off x="685800" y="4343423"/>
            <a:ext cx="5219700" cy="16203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1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</a:t>
            </a: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with course identity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2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this run's synthetic viewer account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3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services and </a:t>
            </a: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INC-2026-0016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4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out; finish the provider prompt</a:t>
            </a:r>
            <a:endParaRPr lang="en-US" sz="1824" dirty="0"/>
          </a:p>
        </p:txBody>
      </p:sp>
      <p:sp>
        <p:nvSpPr>
          <p:cNvPr id="13" name="Text 11"/>
          <p:cNvSpPr/>
          <p:nvPr/>
        </p:nvSpPr>
        <p:spPr>
          <a:xfrm>
            <a:off x="6286500" y="3905162"/>
            <a:ext cx="5219700" cy="351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1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Operator: "I can publish an update"</a:t>
            </a:r>
            <a:endParaRPr lang="en-US" sz="1710" dirty="0"/>
          </a:p>
        </p:txBody>
      </p:sp>
      <p:sp>
        <p:nvSpPr>
          <p:cNvPr id="14" name="Text 12"/>
          <p:cNvSpPr/>
          <p:nvPr/>
        </p:nvSpPr>
        <p:spPr>
          <a:xfrm>
            <a:off x="6286500" y="4343423"/>
            <a:ext cx="5219700" cy="16203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1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with the synthetic operator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2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text, then </a:t>
            </a: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update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3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and publish</a:t>
            </a: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see the timeline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4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out, then Ctrl+C in the launcher</a:t>
            </a:r>
            <a:endParaRPr lang="en-US" sz="182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can keep a client secret?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77670"/>
            <a:ext cx="5219700" cy="4334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Public client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325453"/>
            <a:ext cx="5219700" cy="2164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code or an installed app is inspectable by its user. An embedded secret cannot stay secret. Use PKCE, not a hidden password.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1777670"/>
            <a:ext cx="5219700" cy="4334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Confidential client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325453"/>
            <a:ext cx="5219700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backend can keep its credential on the server. Our Backend-for-Frontend (BFF) is this OAuth client; the browser is its interface. It still uses PKCE.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9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redirect's small pieces each have one job</a:t>
            </a:r>
            <a:endParaRPr lang="en-US" sz="3276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93008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40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Piece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your client does with it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Short-lived, single-use exchange ticket; not an API credential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2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Verifier / challenge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Keep a random secret; send its one-way hash first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S256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SHA-256 (Secure Hash Algorithm, 256-bit) challenge method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Match callback to the pending login; resist cross-site request forgery (CSRF)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nonce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"Number used once": match the identity token to this login attempt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Bearer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Whoever possesses the access token can use it; keep it private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42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11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Fictional CampusPulse case: a stolen code is not yet a stolen token</a:t>
            </a:r>
            <a:endParaRPr lang="en-US" sz="4116" dirty="0"/>
          </a:p>
        </p:txBody>
      </p:sp>
      <p:sp>
        <p:nvSpPr>
          <p:cNvPr id="7" name="Text 5"/>
          <p:cNvSpPr/>
          <p:nvPr/>
        </p:nvSpPr>
        <p:spPr>
          <a:xfrm>
            <a:off x="685800" y="2390610"/>
            <a:ext cx="5219700" cy="4198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6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Maya authorizes the client</a:t>
            </a:r>
            <a:endParaRPr lang="en-US" sz="2160" dirty="0"/>
          </a:p>
        </p:txBody>
      </p:sp>
      <p:sp>
        <p:nvSpPr>
          <p:cNvPr id="8" name="Text 6"/>
          <p:cNvSpPr/>
          <p:nvPr/>
        </p:nvSpPr>
        <p:spPr>
          <a:xfrm>
            <a:off x="685800" y="2920139"/>
            <a:ext cx="5219700" cy="2768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requested: </a:t>
            </a:r>
            <a:r>
              <a:rPr lang="en-US" sz="230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campuspulse.read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returns a short-lived code to the client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 password is entered only at the identity provider</a:t>
            </a:r>
            <a:endParaRPr lang="en-US" sz="2304" dirty="0"/>
          </a:p>
        </p:txBody>
      </p:sp>
      <p:sp>
        <p:nvSpPr>
          <p:cNvPr id="9" name="Text 7"/>
          <p:cNvSpPr/>
          <p:nvPr/>
        </p:nvSpPr>
        <p:spPr>
          <a:xfrm>
            <a:off x="6286500" y="2390610"/>
            <a:ext cx="5219700" cy="4198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6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Another app takes the code</a:t>
            </a:r>
            <a:endParaRPr lang="en-US" sz="2160" dirty="0"/>
          </a:p>
        </p:txBody>
      </p:sp>
      <p:sp>
        <p:nvSpPr>
          <p:cNvPr id="10" name="Text 8"/>
          <p:cNvSpPr/>
          <p:nvPr/>
        </p:nvSpPr>
        <p:spPr>
          <a:xfrm>
            <a:off x="6286500" y="2920139"/>
            <a:ext cx="5219700" cy="2768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has the code but not the client's random verifier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token endpoint rejects the mismatched PKCE proof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protects the client session; PKCE protects the code</a:t>
            </a:r>
            <a:endParaRPr lang="en-US" sz="230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000250"/>
            <a:ext cx="76200" cy="2667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" y="2000250"/>
            <a:ext cx="8953500" cy="266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1729"/>
              </a:lnSpc>
              <a:buNone/>
            </a:pPr>
            <a:r>
              <a:rPr lang="en-US" sz="3300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study planner needs permission to read your timetable. It does not need your campus password, your grades, or permission to change your courses.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66800" y="4762500"/>
            <a:ext cx="10439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The sentence that makes OAuth make sense</a:t>
            </a:r>
            <a:endParaRPr lang="en-US" sz="1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215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 was never "log in". It was "act on my behalf"</a:t>
            </a:r>
            <a:endParaRPr lang="en-US" sz="3696" dirty="0"/>
          </a:p>
        </p:txBody>
      </p:sp>
      <p:sp>
        <p:nvSpPr>
          <p:cNvPr id="7" name="Text 5"/>
          <p:cNvSpPr/>
          <p:nvPr/>
        </p:nvSpPr>
        <p:spPr>
          <a:xfrm>
            <a:off x="685800" y="2230148"/>
            <a:ext cx="10820400" cy="18617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study planner needs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timetable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not your campus password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sharing gives it whatever your whole account can do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lets the provider grant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limited permissions and a token lifetime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approve at the provider; later calls carry a token, not your password</a:t>
            </a:r>
            <a:endParaRPr lang="en-US" sz="2112" dirty="0"/>
          </a:p>
        </p:txBody>
      </p:sp>
      <p:sp>
        <p:nvSpPr>
          <p:cNvPr id="8" name="Shape 6"/>
          <p:cNvSpPr/>
          <p:nvPr/>
        </p:nvSpPr>
        <p:spPr>
          <a:xfrm>
            <a:off x="685800" y="4209215"/>
            <a:ext cx="10820400" cy="1709921"/>
          </a:xfrm>
          <a:prstGeom prst="roundRect">
            <a:avLst>
              <a:gd name="adj" fmla="val 2674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209215"/>
            <a:ext cx="76200" cy="170992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323515"/>
            <a:ext cx="10363200" cy="284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2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52" dirty="0"/>
          </a:p>
        </p:txBody>
      </p:sp>
      <p:sp>
        <p:nvSpPr>
          <p:cNvPr id="11" name="Text 9"/>
          <p:cNvSpPr/>
          <p:nvPr/>
        </p:nvSpPr>
        <p:spPr>
          <a:xfrm>
            <a:off x="914400" y="4646603"/>
            <a:ext cx="10363200" cy="11201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answers </a:t>
            </a:r>
            <a:r>
              <a:rPr lang="en-US" sz="1985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"may this software do this specific thing to this resource on behalf of this person?"</a:t>
            </a: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It does not answer </a:t>
            </a:r>
            <a:r>
              <a:rPr lang="en-US" sz="1985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"who is this person?"</a:t>
            </a: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is OIDC, and confusing the two is the most expensive mistake in this unit.</a:t>
            </a:r>
            <a:endParaRPr lang="en-US" sz="198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actors, and where trust stops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77670"/>
            <a:ext cx="10820400" cy="35258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303520"/>
            <a:ext cx="10820400" cy="678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actors, two trust boundaries. Everything that goes wrong this week goes wrong at a boundary.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89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OIDC is a profile of OAuth, not a competitor</a:t>
            </a:r>
            <a:endParaRPr lang="en-US" sz="3612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02323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329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4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4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OAuth 2.x</a:t>
                      </a:r>
                      <a:endParaRPr lang="en-US" sz="154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4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 OpenID Connect</a:t>
                      </a:r>
                      <a:endParaRPr lang="en-US" sz="154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547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Answers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may this app do X?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…and who is the user?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547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get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access_token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…plus an id_token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547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Consumed by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API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client, once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547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Format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opaque or JWT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always a JWT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547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Metadata doc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RFC 8414 (optional)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OIDC Discovery (optional)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379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Claims (token fields)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format/profile-specific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issuer, subject, audience, expiry, issued-at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OpenID Foundation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OpenID Connect Core 1.0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8414, Authorization Server Metadata</a:t>
            </a:r>
            <a:endParaRPr lang="en-US" sz="12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27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2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Discover the provider's endpoints</a:t>
            </a:r>
            <a:endParaRPr lang="en-US" sz="3528" dirty="0"/>
          </a:p>
        </p:txBody>
      </p:sp>
      <p:sp>
        <p:nvSpPr>
          <p:cNvPr id="7" name="Shape 5"/>
          <p:cNvSpPr/>
          <p:nvPr/>
        </p:nvSpPr>
        <p:spPr>
          <a:xfrm>
            <a:off x="685800" y="1638175"/>
            <a:ext cx="10820400" cy="2848143"/>
          </a:xfrm>
          <a:prstGeom prst="roundRect">
            <a:avLst>
              <a:gd name="adj" fmla="val 192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38175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57225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abbreviated snapshot; use curl.exe in PowerShell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87755"/>
            <a:ext cx="10439400" cy="22728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-fsS https://accounts.google.com/.well-known/openid-configuration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"issuer": "https://accounts.google.com",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"authorization_endpoint": "https://accounts.google.com/o/oauth2/v2/auth",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"token_endpoint": "https://oauth2.googleapis.com/token",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"jwks_uri": "https://www.googleapis.com/oauth2/v3/certs",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"code_challenge_methods_supported": ["plain", "S256"]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12" dirty="0"/>
          </a:p>
        </p:txBody>
      </p:sp>
      <p:sp>
        <p:nvSpPr>
          <p:cNvPr id="11" name="Shape 9"/>
          <p:cNvSpPr/>
          <p:nvPr/>
        </p:nvSpPr>
        <p:spPr>
          <a:xfrm>
            <a:off x="685800" y="4614334"/>
            <a:ext cx="10820400" cy="1322897"/>
          </a:xfrm>
          <a:prstGeom prst="roundRect">
            <a:avLst>
              <a:gd name="adj" fmla="val 345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614334"/>
            <a:ext cx="76200" cy="132289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28634"/>
            <a:ext cx="1036320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86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86" dirty="0"/>
          </a:p>
        </p:txBody>
      </p:sp>
      <p:sp>
        <p:nvSpPr>
          <p:cNvPr id="14" name="Text 12"/>
          <p:cNvSpPr/>
          <p:nvPr/>
        </p:nvSpPr>
        <p:spPr>
          <a:xfrm>
            <a:off x="914400" y="5038768"/>
            <a:ext cx="10363200" cy="746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discovery from an issuer you trust. Read its endpoint addresses rather than guessing paths. In PowerShell use </a:t>
            </a:r>
            <a:r>
              <a:rPr lang="en-US" sz="189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</a:t>
            </a: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on macOS use </a:t>
            </a:r>
            <a:r>
              <a:rPr lang="en-US" sz="189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</a:t>
            </a: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89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639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keys are public, plural, and they rotate</a:t>
            </a:r>
            <a:endParaRPr lang="en-US" sz="3108" dirty="0"/>
          </a:p>
        </p:txBody>
      </p:sp>
      <p:sp>
        <p:nvSpPr>
          <p:cNvPr id="7" name="Shape 5"/>
          <p:cNvSpPr/>
          <p:nvPr/>
        </p:nvSpPr>
        <p:spPr>
          <a:xfrm>
            <a:off x="685800" y="1562897"/>
            <a:ext cx="10820400" cy="2738586"/>
          </a:xfrm>
          <a:prstGeom prst="roundRect">
            <a:avLst>
              <a:gd name="adj" fmla="val 200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62897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8194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fetched live, 2026-08-15 — signature verification material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12477"/>
            <a:ext cx="10439400" cy="216327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7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r>
              <a:rPr lang="en-US" sz="127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-fsS -D - https://www.googleapis.com/oauth2/v3/certs</a:t>
            </a:r>
            <a:endParaRPr lang="en-US" sz="127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7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 no-transform, public, must-revalidate, max-age=21144</a:t>
            </a:r>
            <a:endParaRPr lang="en-US" sz="127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7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{"keys":[</a:t>
            </a:r>
            <a:endParaRPr lang="en-US" sz="127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7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{"kty":"RSA","alg":"RS256","use":"sig",</a:t>
            </a:r>
            <a:endParaRPr lang="en-US" sz="127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7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"kid":"49900291d36cec8c018f2e8af3ef235b8b18d3c9", "e":"AQAB", "n":"..."},</a:t>
            </a:r>
            <a:endParaRPr lang="en-US" sz="127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7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{"kty":"RSA","alg":"RS256","use":"sig",</a:t>
            </a:r>
            <a:endParaRPr lang="en-US" sz="127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7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"kid":"8ff13a6fcdabf306712e58f35668a04eb5a5fae1", "...":"..."},</a:t>
            </a:r>
            <a:endParaRPr lang="en-US" sz="127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7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{"kty":"RSA","alg":"RS256","use":"sig", "kid":"943a...7acba"},</a:t>
            </a:r>
            <a:endParaRPr lang="en-US" sz="127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7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{"kty":"RSA","alg":"RS256","use":"sig", "kid":"f10f...c271"}]}</a:t>
            </a:r>
            <a:endParaRPr lang="en-US" sz="1276" dirty="0"/>
          </a:p>
        </p:txBody>
      </p:sp>
      <p:sp>
        <p:nvSpPr>
          <p:cNvPr id="11" name="Shape 9"/>
          <p:cNvSpPr/>
          <p:nvPr/>
        </p:nvSpPr>
        <p:spPr>
          <a:xfrm>
            <a:off x="685800" y="4414259"/>
            <a:ext cx="10820400" cy="1212580"/>
          </a:xfrm>
          <a:prstGeom prst="roundRect">
            <a:avLst>
              <a:gd name="adj" fmla="val 377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414259"/>
            <a:ext cx="76200" cy="121258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28559"/>
            <a:ext cx="10363200" cy="239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1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21" dirty="0"/>
          </a:p>
        </p:txBody>
      </p:sp>
      <p:sp>
        <p:nvSpPr>
          <p:cNvPr id="14" name="Text 12"/>
          <p:cNvSpPr/>
          <p:nvPr/>
        </p:nvSpPr>
        <p:spPr>
          <a:xfrm>
            <a:off x="914400" y="4806308"/>
            <a:ext cx="10363200" cy="668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dated snapshot had four keys; today's count and values may differ. </a:t>
            </a:r>
            <a:r>
              <a:rPr lang="en-US" sz="1669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</a:t>
            </a: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means key ID: match it, never choose the first key. PowerShell: </a:t>
            </a:r>
            <a:r>
              <a:rPr lang="en-US" sz="1669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</a:t>
            </a: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69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7517, JSON Web Key</a:t>
            </a:r>
            <a:endParaRPr lang="en-US" sz="12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flow, end to end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Authorization Code with PKCE</a:t>
            </a:r>
            <a:endParaRPr lang="en-US" sz="4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flow you should default to, every time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31616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77840"/>
            <a:ext cx="10820400" cy="403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 steps. The browser carries the code; only the client can spend it.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511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2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PKCE is four lines of arithmetic</a:t>
            </a:r>
            <a:endParaRPr lang="en-US" sz="3024" dirty="0"/>
          </a:p>
        </p:txBody>
      </p:sp>
      <p:sp>
        <p:nvSpPr>
          <p:cNvPr id="7" name="Shape 5"/>
          <p:cNvSpPr/>
          <p:nvPr/>
        </p:nvSpPr>
        <p:spPr>
          <a:xfrm>
            <a:off x="685800" y="1547841"/>
            <a:ext cx="10820400" cy="2770236"/>
          </a:xfrm>
          <a:prstGeom prst="roundRect">
            <a:avLst>
              <a:gd name="adj" fmla="val 1980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47841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6689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samples/pkce.mjs — the mechanism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JAVASCRIPT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97421"/>
            <a:ext cx="10439400" cy="219492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 createHash, randomBytes } </a:t>
            </a:r>
            <a:r>
              <a:rPr lang="en-US" sz="1296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9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'node:crypto'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b64url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b =&gt; 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(b).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9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'base64url'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codeVerifier  = 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b64url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randomBytes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 </a:t>
            </a:r>
            <a:r>
              <a:rPr lang="en-US" sz="129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43 chars, 256 bits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codeChallenge = 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b64url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createHash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9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'sha256'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(codeVerifier).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digest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AUTH request: code_challenge + method=S256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TOKEN request: code_verifier, over TLS, from your client only</a:t>
            </a:r>
            <a:endParaRPr lang="en-US" sz="1296" dirty="0"/>
          </a:p>
        </p:txBody>
      </p:sp>
      <p:sp>
        <p:nvSpPr>
          <p:cNvPr id="11" name="Shape 9"/>
          <p:cNvSpPr/>
          <p:nvPr/>
        </p:nvSpPr>
        <p:spPr>
          <a:xfrm>
            <a:off x="685800" y="4427805"/>
            <a:ext cx="10820400" cy="1190517"/>
          </a:xfrm>
          <a:prstGeom prst="roundRect">
            <a:avLst>
              <a:gd name="adj" fmla="val 384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427805"/>
            <a:ext cx="76200" cy="119051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42105"/>
            <a:ext cx="1036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813377"/>
            <a:ext cx="10363200" cy="652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6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</a:t>
            </a:r>
            <a:r>
              <a:rPr lang="en-US" sz="16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pkce.mjs</a:t>
            </a:r>
            <a:r>
              <a:rPr lang="en-US" sz="16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the lab issuer running. Base64url makes URL-safe text; hashing makes a one-way fingerprint.</a:t>
            </a:r>
            <a:endParaRPr lang="en-US" sz="1624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7636, Proof Key for Code Exchange</a:t>
            </a:r>
            <a:endParaRPr lang="en-US" sz="12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876300"/>
            <a:ext cx="2000250" cy="400050"/>
          </a:xfrm>
          <a:prstGeom prst="roundRect">
            <a:avLst>
              <a:gd name="adj" fmla="val 114286"/>
            </a:avLst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6300"/>
            <a:ext cx="2000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A1F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 LIVE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10820400" cy="6405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Inspect a request; test its exchange</a:t>
            </a:r>
            <a:endParaRPr lang="en-US" sz="3612" dirty="0"/>
          </a:p>
        </p:txBody>
      </p:sp>
      <p:sp>
        <p:nvSpPr>
          <p:cNvPr id="9" name="Shape 7"/>
          <p:cNvSpPr/>
          <p:nvPr/>
        </p:nvSpPr>
        <p:spPr>
          <a:xfrm>
            <a:off x="685800" y="2183583"/>
            <a:ext cx="5238750" cy="3531417"/>
          </a:xfrm>
          <a:prstGeom prst="roundRect">
            <a:avLst>
              <a:gd name="adj" fmla="val 1295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2297883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THIS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14400" y="2640783"/>
            <a:ext cx="4781550" cy="26572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Font typeface="+mj-lt"/>
              <a:buAutoNum type="arabicPeriod" startAt="1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weeks/week08/samples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Windows), course Node </a:t>
            </a:r>
            <a:r>
              <a:rPr lang="en-US" sz="22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LTS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Font typeface="+mj-lt"/>
              <a:buAutoNum type="arabicPeriod" startAt="2"/>
            </a:pPr>
            <a:r>
              <a:rPr lang="en-US" sz="22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the </a:t>
            </a:r>
            <a:r>
              <a:rPr lang="en-US" sz="2208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lab issuer </a:t>
            </a: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:9100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not a real provider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Font typeface="+mj-lt"/>
              <a:buAutoNum type="arabicPeriod" startAt="3"/>
            </a:pPr>
            <a:r>
              <a:rPr lang="en-US" sz="22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PKCE, then negatives. Ctrl+C in Terminal A after</a:t>
            </a:r>
            <a:endParaRPr lang="en-US" sz="2208" dirty="0"/>
          </a:p>
        </p:txBody>
      </p:sp>
      <p:sp>
        <p:nvSpPr>
          <p:cNvPr id="12" name="Shape 10"/>
          <p:cNvSpPr/>
          <p:nvPr/>
        </p:nvSpPr>
        <p:spPr>
          <a:xfrm>
            <a:off x="6267450" y="2183583"/>
            <a:ext cx="5238750" cy="1977594"/>
          </a:xfrm>
          <a:prstGeom prst="roundRect">
            <a:avLst>
              <a:gd name="adj" fmla="val 2312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2297883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FOR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496050" y="2640783"/>
            <a:ext cx="4781550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builder: parameters only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Exchange: one success, four refusals</a:t>
            </a:r>
            <a:endParaRPr lang="en-US" sz="2160" dirty="0"/>
          </a:p>
        </p:txBody>
      </p:sp>
      <p:sp>
        <p:nvSpPr>
          <p:cNvPr id="15" name="Shape 13"/>
          <p:cNvSpPr/>
          <p:nvPr/>
        </p:nvSpPr>
        <p:spPr>
          <a:xfrm>
            <a:off x="6267450" y="4351676"/>
            <a:ext cx="5238750" cy="1363324"/>
          </a:xfrm>
          <a:prstGeom prst="roundRect">
            <a:avLst>
              <a:gd name="adj" fmla="val 3354"/>
            </a:avLst>
          </a:prstGeom>
          <a:solidFill>
            <a:srgbClr val="2C241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0" y="4465976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FAILS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496050" y="4808876"/>
            <a:ext cx="4781550" cy="45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offline transcript slide.</a:t>
            </a:r>
            <a:endParaRPr lang="en-US" sz="2112" dirty="0"/>
          </a:p>
        </p:txBody>
      </p:sp>
      <p:sp>
        <p:nvSpPr>
          <p:cNvPr id="18" name="Shape 1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8 lab, Parts 0–2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 authorization server</a:t>
            </a:r>
            <a:endParaRPr lang="en-US" sz="12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A: the lab issuer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315974"/>
          </a:xfrm>
          <a:prstGeom prst="roundRect">
            <a:avLst>
              <a:gd name="adj" fmla="val 416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repository root - Terminal A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74066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weeks\week08\samples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authz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-server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226994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226994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41294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703244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binds to </a:t>
            </a: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127.0.0.1:9100</a:t>
            </a: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prints its issuer, JWKS, and active </a:t>
            </a: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</a:t>
            </a: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blocks.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 authorization server</a:t>
            </a:r>
            <a:endParaRPr lang="en-US" sz="12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the lab issuer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315974"/>
          </a:xfrm>
          <a:prstGeom prst="roundRect">
            <a:avLst>
              <a:gd name="adj" fmla="val 416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repository root - Terminal A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74066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weeks/week08/samples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authz-server.mjs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226994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226994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41294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703244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binds to </a:t>
            </a: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127.0.0.1:9100</a:t>
            </a: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prints its issuer, JWKS, and active </a:t>
            </a: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</a:t>
            </a: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blocks.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 authorization server</a:t>
            </a:r>
            <a:endParaRPr lang="en-US" sz="12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6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B: build it, then break it</a:t>
            </a:r>
            <a:endParaRPr lang="en-US" sz="3780" dirty="0"/>
          </a:p>
        </p:txBody>
      </p:sp>
      <p:sp>
        <p:nvSpPr>
          <p:cNvPr id="7" name="Shape 5"/>
          <p:cNvSpPr/>
          <p:nvPr/>
        </p:nvSpPr>
        <p:spPr>
          <a:xfrm>
            <a:off x="685800" y="1683342"/>
            <a:ext cx="10820400" cy="2127504"/>
          </a:xfrm>
          <a:prstGeom prst="roundRect">
            <a:avLst>
              <a:gd name="adj" fmla="val 257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342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02392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repository root - a fresh Terminal B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32922"/>
            <a:ext cx="10439400" cy="155219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weeks\week08\samples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pkce.mjs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Inspect the URL only: this helper has no callback server.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pkce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-negative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685800" y="3948006"/>
            <a:ext cx="10820400" cy="1739777"/>
          </a:xfrm>
          <a:prstGeom prst="roundRect">
            <a:avLst>
              <a:gd name="adj" fmla="val 2628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948006"/>
            <a:ext cx="76200" cy="173977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62306"/>
            <a:ext cx="10363200" cy="291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85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85" dirty="0"/>
          </a:p>
        </p:txBody>
      </p:sp>
      <p:sp>
        <p:nvSpPr>
          <p:cNvPr id="14" name="Text 12"/>
          <p:cNvSpPr/>
          <p:nvPr/>
        </p:nvSpPr>
        <p:spPr>
          <a:xfrm>
            <a:off x="914400" y="4391871"/>
            <a:ext cx="10363200" cy="114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3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pkce.mjs</a:t>
            </a: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builds parameters. </a:t>
            </a:r>
            <a:r>
              <a:rPr lang="en-US" sz="203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pkce-negative.mjs</a:t>
            </a: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makes one successful exchange and four expected refusals. Use the browser demo for an actual sign-in.</a:t>
            </a:r>
            <a:endParaRPr lang="en-US" sz="2030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8 lab, Part 2</a:t>
            </a:r>
            <a:endParaRPr lang="en-US" sz="12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6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build it, then break it</a:t>
            </a:r>
            <a:endParaRPr lang="en-US" sz="3780" dirty="0"/>
          </a:p>
        </p:txBody>
      </p:sp>
      <p:sp>
        <p:nvSpPr>
          <p:cNvPr id="7" name="Shape 5"/>
          <p:cNvSpPr/>
          <p:nvPr/>
        </p:nvSpPr>
        <p:spPr>
          <a:xfrm>
            <a:off x="685800" y="1683342"/>
            <a:ext cx="10820400" cy="2127504"/>
          </a:xfrm>
          <a:prstGeom prst="roundRect">
            <a:avLst>
              <a:gd name="adj" fmla="val 257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342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02392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repository root - a fresh Terminal B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32922"/>
            <a:ext cx="10439400" cy="155219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weeks/week08/samples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pkce.mjs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Inspect the URL only: this helper has no callback server.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pkce-negative.mjs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685800" y="3948006"/>
            <a:ext cx="10820400" cy="1739777"/>
          </a:xfrm>
          <a:prstGeom prst="roundRect">
            <a:avLst>
              <a:gd name="adj" fmla="val 2628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948006"/>
            <a:ext cx="76200" cy="173977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62306"/>
            <a:ext cx="10363200" cy="291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85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85" dirty="0"/>
          </a:p>
        </p:txBody>
      </p:sp>
      <p:sp>
        <p:nvSpPr>
          <p:cNvPr id="14" name="Text 12"/>
          <p:cNvSpPr/>
          <p:nvPr/>
        </p:nvSpPr>
        <p:spPr>
          <a:xfrm>
            <a:off x="914400" y="4391871"/>
            <a:ext cx="10363200" cy="114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3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pkce.mjs</a:t>
            </a: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builds parameters. </a:t>
            </a:r>
            <a:r>
              <a:rPr lang="en-US" sz="203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pkce-negative.mjs</a:t>
            </a: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makes one successful exchange and four expected refusals. Use the browser demo for an actual sign-in.</a:t>
            </a:r>
            <a:endParaRPr lang="en-US" sz="2030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8 lab, Part 2</a:t>
            </a:r>
            <a:endParaRPr lang="en-US" sz="12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2662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stolen code fails without the verifier</a:t>
            </a:r>
            <a:endParaRPr lang="en-US" sz="3864" dirty="0"/>
          </a:p>
        </p:txBody>
      </p:sp>
      <p:sp>
        <p:nvSpPr>
          <p:cNvPr id="7" name="Shape 5"/>
          <p:cNvSpPr/>
          <p:nvPr/>
        </p:nvSpPr>
        <p:spPr>
          <a:xfrm>
            <a:off x="685800" y="2285799"/>
            <a:ext cx="10820400" cy="3354537"/>
          </a:xfrm>
          <a:prstGeom prst="roundRect">
            <a:avLst>
              <a:gd name="adj" fmla="val 163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85799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304849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 verifier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735379"/>
            <a:ext cx="10439400" cy="27792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pkce-negative.mjs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[A] code  lab_798601197cd070b880b5caacf6a80c5bc83aeb…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 exchange with the WRONG code_verifier --------------------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 400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 "error": "invalid_grant",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"error_description": "PKCE verification failed",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"expected_challenge": "z_1m6MhVmoJag5sEMKeOZYshyx…",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"computed_challenge": "S8PQCZIMviVjOxZP2iqQH5p…" }</a:t>
            </a:r>
            <a:endParaRPr lang="en-US" sz="1656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9700, OAuth 2.0 Security Best Current Practice §2.1.1</a:t>
            </a:r>
            <a:endParaRPr lang="en-US" sz="12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failed exchange can burn the code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965198"/>
          </a:xfrm>
          <a:prstGeom prst="roundRect">
            <a:avLst>
              <a:gd name="adj" fmla="val 279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code, now with the right verifier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13898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 the RIGHT verifier, on that same code --------------------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 400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 "error": "invalid_grant",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"error_description": "unknown or already-redeemed code" }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76218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76218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90518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352468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server burns the code after any redemption attempt. RFC 7636 requires rejection; test whether your provider also revokes.</a:t>
            </a:r>
            <a:endParaRPr lang="en-US" sz="2256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171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11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those failures prove</a:t>
            </a:r>
            <a:endParaRPr lang="en-US" sz="4116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43564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694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6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you saw</a:t>
                      </a:r>
                      <a:endParaRPr lang="en-US" sz="176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6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 proves</a:t>
                      </a:r>
                      <a:endParaRPr lang="en-US" sz="176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6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 does not prove</a:t>
                      </a:r>
                      <a:endParaRPr lang="en-US" sz="176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817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invalid_grant, wrong verifier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This server enforces S256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provider does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817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expected vs computed shown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teaching affordance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 servers are this generous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817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Right verifier, code gone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This server burns the code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RFCs require revocation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942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No-PKCE request refused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OAuth 2.1 behavior, here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tenant refuses it too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942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row above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local model of a provider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Anything about your tenant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7636 §4.6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9700 §2.1.1</a:t>
            </a:r>
            <a:endParaRPr lang="en-US" sz="12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Offline path, then shut it down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965198"/>
          </a:xfrm>
          <a:prstGeom prst="roundRect">
            <a:avLst>
              <a:gd name="adj" fmla="val 279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repository root - no network needed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13898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.\weeks\week08\samples\transcripts\part2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-pkce-negative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.\weeks\week08\samples\fixtures\discovery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-google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.json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Cleanup: Ctrl+C in Terminal A; close the consent browser tab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76218"/>
            <a:ext cx="10820400" cy="1109746"/>
          </a:xfrm>
          <a:prstGeom prst="roundRect">
            <a:avLst>
              <a:gd name="adj" fmla="val 412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76218"/>
            <a:ext cx="76200" cy="110974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90518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352468"/>
            <a:ext cx="10363200" cy="481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issuer's signing key lives in memory and dies with its process.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PKCE negatives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discovery snapshot, 2026-08-15</a:t>
            </a:r>
            <a:endParaRPr lang="en-US" sz="12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offline path, then shut down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965198"/>
          </a:xfrm>
          <a:prstGeom prst="roundRect">
            <a:avLst>
              <a:gd name="adj" fmla="val 279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repository root - no network needed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13898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./weeks/week08/samples/transcripts/part2-pkce-negative.txt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-n 40 ./weeks/week08/samples/fixtures/discovery-google.json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Cleanup: Ctrl+C in Terminal A; close the consent browser tab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76218"/>
            <a:ext cx="10820400" cy="1109746"/>
          </a:xfrm>
          <a:prstGeom prst="roundRect">
            <a:avLst>
              <a:gd name="adj" fmla="val 412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76218"/>
            <a:ext cx="76200" cy="110974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90518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352468"/>
            <a:ext cx="10363200" cy="481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issuer's signing key lives in memory and dies with its process.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PKCE negatives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discovery snapshot, 2026-08-15</a:t>
            </a:r>
            <a:endParaRPr lang="en-US" sz="127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173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3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parameters, five different attacks</a:t>
            </a:r>
            <a:endParaRPr lang="en-US" sz="4032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41449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46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Parameter</a:t>
                      </a:r>
                      <a:endParaRPr lang="en-US" sz="172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From</a:t>
                      </a:r>
                      <a:endParaRPr lang="en-US" sz="172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Checked by</a:t>
                      </a:r>
                      <a:endParaRPr lang="en-US" sz="172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Stops</a:t>
                      </a:r>
                      <a:endParaRPr lang="en-US" sz="172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87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state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client, on callback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CSRF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87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code_challenge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authz server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code interception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8038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nonce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client, in the ID token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 token replay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87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authz server → aud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reuse at another API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87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iss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authz server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client, on callback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provider mix-up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9700 §2.1, on </a:t>
            </a: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state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PKCE, and </a:t>
            </a: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nonce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9207, Authorization Server Issuer Identification</a:t>
            </a:r>
            <a:endParaRPr lang="en-US" sz="12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the implicit flow died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77670"/>
            <a:ext cx="5219700" cy="4061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7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it did</a:t>
            </a:r>
            <a:endParaRPr lang="en-US" sz="2070" dirty="0"/>
          </a:p>
        </p:txBody>
      </p:sp>
      <p:sp>
        <p:nvSpPr>
          <p:cNvPr id="8" name="Text 6"/>
          <p:cNvSpPr/>
          <p:nvPr/>
        </p:nvSpPr>
        <p:spPr>
          <a:xfrm>
            <a:off x="685800" y="2288945"/>
            <a:ext cx="5219700" cy="2264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Asked for </a:t>
            </a: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response_type=token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Got an </a:t>
            </a:r>
            <a:r>
              <a:rPr lang="en-US" sz="22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token in the URL fragment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code, no token endpoint, no exchange</a:t>
            </a:r>
            <a:endParaRPr lang="en-US" sz="2208" dirty="0"/>
          </a:p>
        </p:txBody>
      </p:sp>
      <p:sp>
        <p:nvSpPr>
          <p:cNvPr id="9" name="Shape 7"/>
          <p:cNvSpPr/>
          <p:nvPr/>
        </p:nvSpPr>
        <p:spPr>
          <a:xfrm>
            <a:off x="685800" y="4676291"/>
            <a:ext cx="5219700" cy="775137"/>
          </a:xfrm>
          <a:prstGeom prst="roundRect">
            <a:avLst>
              <a:gd name="adj" fmla="val 7078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6300" y="4885841"/>
            <a:ext cx="4838700" cy="43985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9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#access_token=…</a:t>
            </a:r>
            <a:endParaRPr lang="en-US" sz="1932" dirty="0"/>
          </a:p>
        </p:txBody>
      </p:sp>
      <p:sp>
        <p:nvSpPr>
          <p:cNvPr id="11" name="Text 9"/>
          <p:cNvSpPr/>
          <p:nvPr/>
        </p:nvSpPr>
        <p:spPr>
          <a:xfrm>
            <a:off x="6286500" y="1777670"/>
            <a:ext cx="5219700" cy="4061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7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 is gone</a:t>
            </a:r>
            <a:endParaRPr lang="en-US" sz="2070" dirty="0"/>
          </a:p>
        </p:txBody>
      </p:sp>
      <p:sp>
        <p:nvSpPr>
          <p:cNvPr id="12" name="Text 10"/>
          <p:cNvSpPr/>
          <p:nvPr/>
        </p:nvSpPr>
        <p:spPr>
          <a:xfrm>
            <a:off x="6286500" y="2288945"/>
            <a:ext cx="5219700" cy="18720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Tokens land in history and logs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client authentication, ever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refresh token, no requester binding</a:t>
            </a:r>
            <a:endParaRPr lang="en-US" sz="2208" dirty="0"/>
          </a:p>
        </p:txBody>
      </p:sp>
      <p:sp>
        <p:nvSpPr>
          <p:cNvPr id="13" name="Shape 11"/>
          <p:cNvSpPr/>
          <p:nvPr/>
        </p:nvSpPr>
        <p:spPr>
          <a:xfrm>
            <a:off x="6286500" y="4283709"/>
            <a:ext cx="5219700" cy="1411150"/>
          </a:xfrm>
          <a:prstGeom prst="roundRect">
            <a:avLst>
              <a:gd name="adj" fmla="val 3240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86500" y="4283709"/>
            <a:ext cx="76200" cy="1411150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5100" y="4398009"/>
            <a:ext cx="4762500" cy="297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18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518" dirty="0"/>
          </a:p>
        </p:txBody>
      </p:sp>
      <p:sp>
        <p:nvSpPr>
          <p:cNvPr id="16" name="Text 14"/>
          <p:cNvSpPr/>
          <p:nvPr/>
        </p:nvSpPr>
        <p:spPr>
          <a:xfrm>
            <a:off x="6515100" y="4734051"/>
            <a:ext cx="4762500" cy="80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2.1 removed it. So did MCP. Do not use it in new applications.</a:t>
            </a:r>
            <a:endParaRPr lang="en-US" sz="2076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533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easy mistakes, and how to avoid them</a:t>
            </a:r>
            <a:endParaRPr lang="en-US" sz="3696" dirty="0"/>
          </a:p>
        </p:txBody>
      </p:sp>
      <p:sp>
        <p:nvSpPr>
          <p:cNvPr id="7" name="Text 5"/>
          <p:cNvSpPr/>
          <p:nvPr/>
        </p:nvSpPr>
        <p:spPr>
          <a:xfrm>
            <a:off x="685800" y="1668286"/>
            <a:ext cx="10820400" cy="2237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Hardcoding endpoints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instead of reading them out of the discovery document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code_challenge_method=plain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because the provider advertises it and it works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Reusing one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code_verifier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across requests — no error, no protection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Skipping the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check on the callback because "it worked"</a:t>
            </a:r>
            <a:endParaRPr lang="en-US" sz="2112" dirty="0"/>
          </a:p>
        </p:txBody>
      </p:sp>
      <p:sp>
        <p:nvSpPr>
          <p:cNvPr id="8" name="Shape 6"/>
          <p:cNvSpPr/>
          <p:nvPr/>
        </p:nvSpPr>
        <p:spPr>
          <a:xfrm>
            <a:off x="685800" y="4022866"/>
            <a:ext cx="10820400" cy="1709921"/>
          </a:xfrm>
          <a:prstGeom prst="roundRect">
            <a:avLst>
              <a:gd name="adj" fmla="val 2674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022866"/>
            <a:ext cx="76200" cy="1709921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37166"/>
            <a:ext cx="10363200" cy="284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2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452" dirty="0"/>
          </a:p>
        </p:txBody>
      </p:sp>
      <p:sp>
        <p:nvSpPr>
          <p:cNvPr id="11" name="Text 9"/>
          <p:cNvSpPr/>
          <p:nvPr/>
        </p:nvSpPr>
        <p:spPr>
          <a:xfrm>
            <a:off x="914400" y="4460254"/>
            <a:ext cx="10363200" cy="11201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one of these produces a </a:t>
            </a:r>
            <a:r>
              <a:rPr lang="en-US" sz="198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login</a:t>
            </a: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None of them produces a safe one. This is the delegation line from Week 1: the correctness oracle is not your compiler, it is a remote system with its own clock and its own operator.</a:t>
            </a:r>
            <a:endParaRPr lang="en-US" sz="198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800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Individual (4 min) → cold call (3 min) → debrief (3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164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2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Fill in the four roles for your own MCP server — and say who holds what</a:t>
            </a:r>
            <a:endParaRPr lang="en-US" sz="3528" dirty="0"/>
          </a:p>
        </p:txBody>
      </p:sp>
      <p:sp>
        <p:nvSpPr>
          <p:cNvPr id="10" name="Text 8"/>
          <p:cNvSpPr/>
          <p:nvPr/>
        </p:nvSpPr>
        <p:spPr>
          <a:xfrm>
            <a:off x="685800" y="3298448"/>
            <a:ext cx="10820400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Font typeface="+mj-lt"/>
              <a:buAutoNum type="arabicPeriod" startAt="1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MCP server is at </a:t>
            </a:r>
            <a:r>
              <a:rPr lang="en-US" sz="201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https://mcp.&lt;yourname&gt;.example/mcp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Who is the </a:t>
            </a: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owner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 </a:t>
            </a: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 </a:t>
            </a: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authorization server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the </a:t>
            </a: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server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Font typeface="+mj-lt"/>
              <a:buAutoNum type="arabicPeriod" startAt="2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of them may hold a </a:t>
            </a: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secret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why can the others not?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Font typeface="+mj-lt"/>
              <a:buAutoNum type="arabicPeriod" startAt="3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attacker reads your browser history and finds </a:t>
            </a:r>
            <a:r>
              <a:rPr lang="en-US" sz="201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?code=…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What else do they need, and where does it live?</a:t>
            </a:r>
            <a:endParaRPr lang="en-US" sz="2016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Authorization, specification 2026-07-28</a:t>
            </a:r>
            <a:endParaRPr lang="en-US" sz="127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Continue with B/C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Navigation only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Continue with Blocks B and C</a:t>
            </a:r>
            <a:endParaRPr lang="en-US" sz="4200" dirty="0"/>
          </a:p>
        </p:txBody>
      </p:sp>
    </p:spTree>
  </p:cSld>
  <p:clrMapOvr>
    <a:masterClrMapping/>
  </p:clrMapOvr>
</p:sld>
</file>

<file path=ppt/theme/notes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OAuth exists and how the flow runs — Week 8 Block A</dc:title>
  <dc:subject>Delegation, not login — the four actors, the two trust boundaries, and Authorization Code with PKCE end to end</dc:subject>
  <dc:creator>Course staff</dc:creator>
  <cp:lastModifiedBy>Course staff</cp:lastModifiedBy>
  <cp:revision>1</cp:revision>
  <dcterms:created xsi:type="dcterms:W3CDTF">2026-10-29T22:48:35Z</dcterms:created>
  <dcterms:modified xsi:type="dcterms:W3CDTF">2026-10-29T22:48:35Z</dcterms:modified>
</cp:coreProperties>
</file>